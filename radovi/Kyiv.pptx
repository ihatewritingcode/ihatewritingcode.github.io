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9" r:id="rId5"/>
    <p:sldId id="257" r:id="rId6"/>
    <p:sldId id="261" r:id="rId7"/>
    <p:sldId id="263" r:id="rId8"/>
    <p:sldId id="267" r:id="rId9"/>
    <p:sldId id="266" r:id="rId10"/>
    <p:sldId id="273" r:id="rId11"/>
    <p:sldId id="274" r:id="rId12"/>
    <p:sldId id="281" r:id="rId13"/>
    <p:sldId id="275" r:id="rId14"/>
    <p:sldId id="282" r:id="rId15"/>
  </p:sldIdLst>
  <p:sldSz cx="9144000" cy="6858000" type="screen4x3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829F8F3C-DC97-4758-87E4-C947220921C2}">
          <p14:sldIdLst>
            <p14:sldId id="256"/>
            <p14:sldId id="259"/>
            <p14:sldId id="257"/>
            <p14:sldId id="261"/>
            <p14:sldId id="263"/>
            <p14:sldId id="267"/>
            <p14:sldId id="266"/>
            <p14:sldId id="273"/>
            <p14:sldId id="274"/>
            <p14:sldId id="281"/>
            <p14:sldId id="275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99"/>
    <a:srgbClr val="99CC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Темный стиль 2 -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Темный стиль 2 -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583E-4823-46FC-96CB-AE190FC360CD}" type="datetimeFigureOut">
              <a:rPr lang="uk-UA" smtClean="0"/>
              <a:t>08.04.2026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642E-BE07-4487-B55D-229686F3C40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95049551"/>
      </p:ext>
    </p:extLst>
  </p:cSld>
  <p:clrMapOvr>
    <a:masterClrMapping/>
  </p:clrMapOvr>
  <p:transition spd="slow">
    <p:push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583E-4823-46FC-96CB-AE190FC360CD}" type="datetimeFigureOut">
              <a:rPr lang="uk-UA" smtClean="0"/>
              <a:t>08.04.2026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642E-BE07-4487-B55D-229686F3C40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56015928"/>
      </p:ext>
    </p:extLst>
  </p:cSld>
  <p:clrMapOvr>
    <a:masterClrMapping/>
  </p:clrMapOvr>
  <p:transition spd="slow">
    <p:push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583E-4823-46FC-96CB-AE190FC360CD}" type="datetimeFigureOut">
              <a:rPr lang="uk-UA" smtClean="0"/>
              <a:t>08.04.2026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642E-BE07-4487-B55D-229686F3C40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40922250"/>
      </p:ext>
    </p:extLst>
  </p:cSld>
  <p:clrMapOvr>
    <a:masterClrMapping/>
  </p:clrMapOvr>
  <p:transition spd="slow">
    <p:push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583E-4823-46FC-96CB-AE190FC360CD}" type="datetimeFigureOut">
              <a:rPr lang="uk-UA" smtClean="0"/>
              <a:t>08.04.2026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642E-BE07-4487-B55D-229686F3C40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86374850"/>
      </p:ext>
    </p:extLst>
  </p:cSld>
  <p:clrMapOvr>
    <a:masterClrMapping/>
  </p:clrMapOvr>
  <p:transition spd="slow">
    <p:push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583E-4823-46FC-96CB-AE190FC360CD}" type="datetimeFigureOut">
              <a:rPr lang="uk-UA" smtClean="0"/>
              <a:t>08.04.2026</a:t>
            </a:fld>
            <a:endParaRPr lang="uk-UA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642E-BE07-4487-B55D-229686F3C40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9478960"/>
      </p:ext>
    </p:extLst>
  </p:cSld>
  <p:clrMapOvr>
    <a:masterClrMapping/>
  </p:clrMapOvr>
  <p:transition spd="slow">
    <p:push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583E-4823-46FC-96CB-AE190FC360CD}" type="datetimeFigureOut">
              <a:rPr lang="uk-UA" smtClean="0"/>
              <a:t>08.04.2026</a:t>
            </a:fld>
            <a:endParaRPr lang="uk-UA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642E-BE07-4487-B55D-229686F3C40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60484782"/>
      </p:ext>
    </p:extLst>
  </p:cSld>
  <p:clrMapOvr>
    <a:masterClrMapping/>
  </p:clrMapOvr>
  <p:transition spd="slow">
    <p:push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583E-4823-46FC-96CB-AE190FC360CD}" type="datetimeFigureOut">
              <a:rPr lang="uk-UA" smtClean="0"/>
              <a:t>08.04.2026</a:t>
            </a:fld>
            <a:endParaRPr lang="uk-UA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642E-BE07-4487-B55D-229686F3C40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42090774"/>
      </p:ext>
    </p:extLst>
  </p:cSld>
  <p:clrMapOvr>
    <a:masterClrMapping/>
  </p:clrMapOvr>
  <p:transition spd="slow">
    <p:push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583E-4823-46FC-96CB-AE190FC360CD}" type="datetimeFigureOut">
              <a:rPr lang="uk-UA" smtClean="0"/>
              <a:t>08.04.2026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642E-BE07-4487-B55D-229686F3C40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93072699"/>
      </p:ext>
    </p:extLst>
  </p:cSld>
  <p:clrMapOvr>
    <a:masterClrMapping/>
  </p:clrMapOvr>
  <p:transition spd="slow">
    <p:push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583E-4823-46FC-96CB-AE190FC360CD}" type="datetimeFigureOut">
              <a:rPr lang="uk-UA" smtClean="0"/>
              <a:t>08.04.2026</a:t>
            </a:fld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642E-BE07-4487-B55D-229686F3C40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02004666"/>
      </p:ext>
    </p:extLst>
  </p:cSld>
  <p:clrMapOvr>
    <a:masterClrMapping/>
  </p:clrMapOvr>
  <p:transition spd="slow">
    <p:push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583E-4823-46FC-96CB-AE190FC360CD}" type="datetimeFigureOut">
              <a:rPr lang="uk-UA" smtClean="0"/>
              <a:t>08.04.2026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642E-BE07-4487-B55D-229686F3C40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42853330"/>
      </p:ext>
    </p:extLst>
  </p:cSld>
  <p:clrMapOvr>
    <a:masterClrMapping/>
  </p:clrMapOvr>
  <p:transition spd="slow">
    <p:push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6583E-4823-46FC-96CB-AE190FC360CD}" type="datetimeFigureOut">
              <a:rPr lang="uk-UA" smtClean="0"/>
              <a:t>08.04.2026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C642E-BE07-4487-B55D-229686F3C40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46680764"/>
      </p:ext>
    </p:extLst>
  </p:cSld>
  <p:clrMapOvr>
    <a:masterClrMapping/>
  </p:clrMapOvr>
  <p:transition spd="slow">
    <p:push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uk-UA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6583E-4823-46FC-96CB-AE190FC360CD}" type="datetimeFigureOut">
              <a:rPr lang="uk-UA" smtClean="0"/>
              <a:t>08.04.2026</a:t>
            </a:fld>
            <a:endParaRPr lang="uk-UA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C642E-BE07-4487-B55D-229686F3C409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9394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d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628901" y="692696"/>
            <a:ext cx="7972363" cy="5352064"/>
          </a:xfrm>
          <a:prstGeom prst="round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"/>
                </a:schemeClr>
              </a:gs>
              <a:gs pos="80000">
                <a:schemeClr val="accent5">
                  <a:lumMod val="20000"/>
                  <a:lumOff val="80000"/>
                  <a:alpha val="55000"/>
                </a:schemeClr>
              </a:gs>
              <a:gs pos="100000">
                <a:schemeClr val="accent5">
                  <a:lumMod val="40000"/>
                  <a:lumOff val="60000"/>
                  <a:alpha val="44000"/>
                </a:schemeClr>
              </a:gs>
            </a:gsLst>
            <a:lin ang="16200000" scaled="1"/>
          </a:gradFill>
          <a:ln>
            <a:noFill/>
          </a:ln>
          <a:effectLst>
            <a:glow>
              <a:schemeClr val="accent1">
                <a:alpha val="0"/>
              </a:schemeClr>
            </a:glow>
            <a:outerShdw blurRad="40000" dist="20000" dir="5400000" rotWithShape="0">
              <a:srgbClr val="000000">
                <a:alpha val="17000"/>
              </a:srgbClr>
            </a:outerShdw>
            <a:reflection stA="0" endPos="65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8183" y="692696"/>
            <a:ext cx="4292507" cy="2434038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Kyiv</a:t>
            </a:r>
            <a:endParaRPr lang="uk-UA" sz="8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26" name="Picture 2" descr="Возможно, это изображение памятник и небо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378196"/>
            <a:ext cx="3205647" cy="401002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ъект 2"/>
          <p:cNvSpPr txBox="1">
            <a:spLocks/>
          </p:cNvSpPr>
          <p:nvPr/>
        </p:nvSpPr>
        <p:spPr>
          <a:xfrm>
            <a:off x="628901" y="2708920"/>
            <a:ext cx="4087115" cy="3744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askerville Old Face" panose="02020602080505020303" pitchFamily="18" charset="0"/>
              </a:rPr>
              <a:t>Arsen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askerville Old Face" panose="02020602080505020303" pitchFamily="18" charset="0"/>
              </a:rPr>
              <a:t>Pshevlotskyi</a:t>
            </a: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Baskerville Old Face" panose="02020602080505020303" pitchFamily="18" charset="0"/>
              </a:rPr>
              <a:t>, 1.b</a:t>
            </a:r>
            <a:endParaRPr lang="uk-UA" sz="2800" dirty="0">
              <a:solidFill>
                <a:schemeClr val="tx1">
                  <a:lumMod val="85000"/>
                  <a:lumOff val="15000"/>
                </a:schemeClr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981129"/>
      </p:ext>
    </p:extLst>
  </p:cSld>
  <p:clrMapOvr>
    <a:masterClrMapping/>
  </p:clrMapOvr>
  <p:transition spd="slow">
    <p:push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15200" cy="11430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Broadway" panose="04040905080B02020502" pitchFamily="82" charset="0"/>
              </a:rPr>
              <a:t>Kyiv   je</a:t>
            </a:r>
            <a:endParaRPr lang="uk-UA" b="1" dirty="0">
              <a:solidFill>
                <a:schemeClr val="bg1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2105" y="2276872"/>
            <a:ext cx="5194920" cy="4320480"/>
          </a:xfrm>
        </p:spPr>
        <p:txBody>
          <a:bodyPr numCol="1">
            <a:normAutofit/>
          </a:bodyPr>
          <a:lstStyle/>
          <a:p>
            <a:pPr marL="0" indent="0">
              <a:buNone/>
            </a:pP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Lokacija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središnjih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vlasti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Ukrajine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stranih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misija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sjedišta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većine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poduzeća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javnih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udruga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koje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djeluju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u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Ukrajini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.</a:t>
            </a:r>
            <a:endParaRPr lang="uk-UA" sz="2800" dirty="0">
              <a:solidFill>
                <a:schemeClr val="bg1"/>
              </a:solidFill>
            </a:endParaRPr>
          </a:p>
        </p:txBody>
      </p:sp>
      <p:pic>
        <p:nvPicPr>
          <p:cNvPr id="3074" name="Picture 2" descr="Нет описания фото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1988840"/>
            <a:ext cx="3168352" cy="396044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Прямоугольник 3"/>
          <p:cNvSpPr/>
          <p:nvPr/>
        </p:nvSpPr>
        <p:spPr>
          <a:xfrm>
            <a:off x="251520" y="1196752"/>
            <a:ext cx="824440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povijesni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sadašnji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politički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vjerski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znanstveni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i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kulturni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glavni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grad 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Ukrajine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8080968"/>
      </p:ext>
    </p:extLst>
  </p:cSld>
  <p:clrMapOvr>
    <a:masterClrMapping/>
  </p:clrMapOvr>
  <p:transition spd="slow">
    <p:push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52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utout trans="64000" numberOfShades="6"/>
                    </a14:imgEffect>
                    <a14:imgEffect>
                      <a14:colorTemperature colorTemp="6875"/>
                    </a14:imgEffect>
                    <a14:imgEffect>
                      <a14:saturation sat="9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lgerian" panose="04020705040A02060702" pitchFamily="82" charset="0"/>
              </a:rPr>
              <a:t>Mjesto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004048" y="1921383"/>
            <a:ext cx="3682752" cy="44973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latin typeface="Baskerville Old Face" panose="02020602080505020303" pitchFamily="18" charset="0"/>
              </a:rPr>
              <a:t>Grad se </a:t>
            </a:r>
            <a:r>
              <a:rPr lang="en-US" dirty="0" err="1">
                <a:latin typeface="Baskerville Old Face" panose="02020602080505020303" pitchFamily="18" charset="0"/>
              </a:rPr>
              <a:t>nalazi</a:t>
            </a:r>
            <a:r>
              <a:rPr lang="en-US" dirty="0">
                <a:latin typeface="Baskerville Old Face" panose="02020602080505020303" pitchFamily="18" charset="0"/>
              </a:rPr>
              <a:t> u </a:t>
            </a:r>
            <a:r>
              <a:rPr lang="en-US" dirty="0" err="1">
                <a:latin typeface="Baskerville Old Face" panose="02020602080505020303" pitchFamily="18" charset="0"/>
              </a:rPr>
              <a:t>srednjem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toku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rijeke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Dnjepar</a:t>
            </a:r>
            <a:r>
              <a:rPr lang="en-US" dirty="0">
                <a:latin typeface="Baskerville Old Face" panose="02020602080505020303" pitchFamily="18" charset="0"/>
              </a:rPr>
              <a:t>. </a:t>
            </a:r>
            <a:r>
              <a:rPr lang="en-US" dirty="0" err="1">
                <a:latin typeface="Baskerville Old Face" panose="02020602080505020303" pitchFamily="18" charset="0"/>
              </a:rPr>
              <a:t>Ista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rijeka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dijeli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glavni</a:t>
            </a:r>
            <a:r>
              <a:rPr lang="en-US" dirty="0">
                <a:latin typeface="Baskerville Old Face" panose="02020602080505020303" pitchFamily="18" charset="0"/>
              </a:rPr>
              <a:t> grad </a:t>
            </a:r>
            <a:r>
              <a:rPr lang="en-US" dirty="0" err="1">
                <a:latin typeface="Baskerville Old Face" panose="02020602080505020303" pitchFamily="18" charset="0"/>
              </a:rPr>
              <a:t>na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dva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dijela</a:t>
            </a:r>
            <a:r>
              <a:rPr lang="en-US" dirty="0">
                <a:latin typeface="Baskerville Old Face" panose="02020602080505020303" pitchFamily="18" charset="0"/>
              </a:rPr>
              <a:t>, </a:t>
            </a:r>
            <a:r>
              <a:rPr lang="en-US" dirty="0" err="1">
                <a:latin typeface="Baskerville Old Face" panose="02020602080505020303" pitchFamily="18" charset="0"/>
              </a:rPr>
              <a:t>koji</a:t>
            </a:r>
            <a:r>
              <a:rPr lang="en-US" dirty="0">
                <a:latin typeface="Baskerville Old Face" panose="02020602080505020303" pitchFamily="18" charset="0"/>
              </a:rPr>
              <a:t> se </a:t>
            </a:r>
            <a:r>
              <a:rPr lang="en-US" dirty="0" err="1">
                <a:latin typeface="Baskerville Old Face" panose="02020602080505020303" pitchFamily="18" charset="0"/>
              </a:rPr>
              <a:t>zovu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desna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i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lijeva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obala</a:t>
            </a:r>
            <a:r>
              <a:rPr lang="en-US" dirty="0">
                <a:latin typeface="Baskerville Old Face" panose="02020602080505020303" pitchFamily="18" charset="0"/>
              </a:rPr>
              <a:t>.</a:t>
            </a:r>
            <a:endParaRPr lang="uk-UA" dirty="0"/>
          </a:p>
        </p:txBody>
      </p:sp>
      <p:pic>
        <p:nvPicPr>
          <p:cNvPr id="2050" name="Picture 2" descr="FRONTLINE/WORLD . Ukraine - A Murder in Kyiv . Map | PB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88840"/>
            <a:ext cx="3404964" cy="337548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2052" name="Picture 4" descr="Канцелярская кнопка с шариком эмодзи клипарт. Бесплатная загрузка. |  Creazill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808820"/>
            <a:ext cx="504056" cy="504056"/>
          </a:xfrm>
          <a:prstGeom prst="rect">
            <a:avLst/>
          </a:prstGeom>
          <a:noFill/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105603"/>
      </p:ext>
    </p:extLst>
  </p:cSld>
  <p:clrMapOvr>
    <a:masterClrMapping/>
  </p:clrMapOvr>
  <p:transition spd="slow">
    <p:push dir="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Горизонтальный свиток 3"/>
          <p:cNvSpPr/>
          <p:nvPr/>
        </p:nvSpPr>
        <p:spPr>
          <a:xfrm>
            <a:off x="4572000" y="44624"/>
            <a:ext cx="4464496" cy="1368152"/>
          </a:xfrm>
          <a:prstGeom prst="horizontalScroll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843808" y="157200"/>
            <a:ext cx="8229600" cy="1143000"/>
          </a:xfrm>
        </p:spPr>
        <p:txBody>
          <a:bodyPr/>
          <a:lstStyle/>
          <a:p>
            <a:r>
              <a:rPr lang="en-US" dirty="0" err="1">
                <a:latin typeface="Algerian" panose="04020705040A02060702" pitchFamily="82" charset="0"/>
              </a:rPr>
              <a:t>Povijest</a:t>
            </a:r>
            <a:endParaRPr lang="uk-UA" dirty="0"/>
          </a:p>
        </p:txBody>
      </p:sp>
      <p:pic>
        <p:nvPicPr>
          <p:cNvPr id="6146" name="Picture 2" descr="Лист бумаги в линию - фото и картинки: 57 штук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2856"/>
            <a:ext cx="7187710" cy="4043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3921" y="2822250"/>
            <a:ext cx="6768752" cy="2952329"/>
          </a:xfrm>
        </p:spPr>
        <p:txBody>
          <a:bodyPr>
            <a:noAutofit/>
          </a:bodyPr>
          <a:lstStyle/>
          <a:p>
            <a:pPr algn="ctr"/>
            <a:r>
              <a:rPr lang="en-US" dirty="0" err="1">
                <a:latin typeface="Baskerville Old Face" panose="02020602080505020303" pitchFamily="18" charset="0"/>
              </a:rPr>
              <a:t>Položaj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Kijeva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na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Dnjeparskom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putu</a:t>
            </a:r>
            <a:r>
              <a:rPr lang="en-US" dirty="0">
                <a:latin typeface="Baskerville Old Face" panose="02020602080505020303" pitchFamily="18" charset="0"/>
              </a:rPr>
              <a:t>, u </a:t>
            </a:r>
            <a:r>
              <a:rPr lang="en-US" dirty="0" err="1">
                <a:latin typeface="Baskerville Old Face" panose="02020602080505020303" pitchFamily="18" charset="0"/>
              </a:rPr>
              <a:t>etničkom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graničnom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pojasu</a:t>
            </a:r>
            <a:r>
              <a:rPr lang="en-US" dirty="0">
                <a:latin typeface="Baskerville Old Face" panose="02020602080505020303" pitchFamily="18" charset="0"/>
              </a:rPr>
              <a:t>, </a:t>
            </a:r>
            <a:r>
              <a:rPr lang="en-US" dirty="0" err="1">
                <a:latin typeface="Baskerville Old Face" panose="02020602080505020303" pitchFamily="18" charset="0"/>
              </a:rPr>
              <a:t>pridonio</a:t>
            </a:r>
            <a:r>
              <a:rPr lang="en-US" dirty="0">
                <a:latin typeface="Baskerville Old Face" panose="02020602080505020303" pitchFamily="18" charset="0"/>
              </a:rPr>
              <a:t> je </a:t>
            </a:r>
            <a:r>
              <a:rPr lang="en-US" dirty="0" err="1">
                <a:latin typeface="Baskerville Old Face" panose="02020602080505020303" pitchFamily="18" charset="0"/>
              </a:rPr>
              <a:t>promicanju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grada</a:t>
            </a:r>
            <a:r>
              <a:rPr lang="en-US" dirty="0">
                <a:latin typeface="Baskerville Old Face" panose="02020602080505020303" pitchFamily="18" charset="0"/>
              </a:rPr>
              <a:t> u </a:t>
            </a:r>
            <a:r>
              <a:rPr lang="en-US" dirty="0" err="1">
                <a:latin typeface="Baskerville Old Face" panose="02020602080505020303" pitchFamily="18" charset="0"/>
              </a:rPr>
              <a:t>ulogu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političkog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središta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regije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Srednji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Dnjepar</a:t>
            </a:r>
            <a:r>
              <a:rPr lang="en-US" dirty="0">
                <a:latin typeface="Baskerville Old Face" panose="02020602080505020303" pitchFamily="18" charset="0"/>
              </a:rPr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054746712"/>
      </p:ext>
    </p:extLst>
  </p:cSld>
  <p:clrMapOvr>
    <a:masterClrMapping/>
  </p:clrMapOvr>
  <p:transition spd="slow">
    <p:push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alphaModFix amt="89000"/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Кира-скрап - клипарт и рамки на прозрачном фоне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764704"/>
            <a:ext cx="7551210" cy="5392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259632" y="2151675"/>
            <a:ext cx="6912768" cy="521744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err="1">
                <a:latin typeface="Baskerville Old Face" panose="02020602080505020303" pitchFamily="18" charset="0"/>
              </a:rPr>
              <a:t>Kijev</a:t>
            </a:r>
            <a:r>
              <a:rPr lang="en-US" dirty="0">
                <a:latin typeface="Baskerville Old Face" panose="02020602080505020303" pitchFamily="18" charset="0"/>
              </a:rPr>
              <a:t> je bio </a:t>
            </a:r>
            <a:r>
              <a:rPr lang="en-US" dirty="0" err="1">
                <a:latin typeface="Baskerville Old Face" panose="02020602080505020303" pitchFamily="18" charset="0"/>
              </a:rPr>
              <a:t>pritok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Hazara</a:t>
            </a:r>
            <a:r>
              <a:rPr lang="en-US" dirty="0">
                <a:latin typeface="Baskerville Old Face" panose="02020602080505020303" pitchFamily="18" charset="0"/>
              </a:rPr>
              <a:t>, </a:t>
            </a:r>
            <a:r>
              <a:rPr lang="en-US" dirty="0" err="1">
                <a:latin typeface="Baskerville Old Face" panose="02020602080505020303" pitchFamily="18" charset="0"/>
              </a:rPr>
              <a:t>sve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dok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ga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nisu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zauzeli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Varagi</a:t>
            </a:r>
            <a:r>
              <a:rPr lang="en-US" dirty="0">
                <a:latin typeface="Baskerville Old Face" panose="02020602080505020303" pitchFamily="18" charset="0"/>
              </a:rPr>
              <a:t> (</a:t>
            </a:r>
            <a:r>
              <a:rPr lang="en-US" dirty="0" err="1">
                <a:latin typeface="Baskerville Old Face" panose="02020602080505020303" pitchFamily="18" charset="0"/>
              </a:rPr>
              <a:t>Vikinzi</a:t>
            </a:r>
            <a:r>
              <a:rPr lang="en-US" dirty="0">
                <a:latin typeface="Baskerville Old Face" panose="02020602080505020303" pitchFamily="18" charset="0"/>
              </a:rPr>
              <a:t>) </a:t>
            </a:r>
            <a:r>
              <a:rPr lang="en-US" dirty="0" err="1">
                <a:latin typeface="Baskerville Old Face" panose="02020602080505020303" pitchFamily="18" charset="0"/>
              </a:rPr>
              <a:t>sredinom</a:t>
            </a:r>
            <a:r>
              <a:rPr lang="en-US" dirty="0">
                <a:latin typeface="Baskerville Old Face" panose="02020602080505020303" pitchFamily="18" charset="0"/>
              </a:rPr>
              <a:t> 9. </a:t>
            </a:r>
            <a:r>
              <a:rPr lang="en-US" dirty="0" err="1">
                <a:latin typeface="Baskerville Old Face" panose="02020602080505020303" pitchFamily="18" charset="0"/>
              </a:rPr>
              <a:t>stoljeća</a:t>
            </a:r>
            <a:r>
              <a:rPr lang="en-US" dirty="0">
                <a:latin typeface="Baskerville Old Face" panose="02020602080505020303" pitchFamily="18" charset="0"/>
              </a:rPr>
              <a:t>.</a:t>
            </a:r>
          </a:p>
          <a:p>
            <a:pPr marL="0" indent="0" algn="ctr">
              <a:buNone/>
            </a:pPr>
            <a:r>
              <a:rPr lang="en-US" dirty="0">
                <a:latin typeface="Baskerville Old Face" panose="02020602080505020303" pitchFamily="18" charset="0"/>
              </a:rPr>
              <a:t>Pod </a:t>
            </a:r>
            <a:r>
              <a:rPr lang="en-US" dirty="0" err="1">
                <a:latin typeface="Baskerville Old Face" panose="02020602080505020303" pitchFamily="18" charset="0"/>
              </a:rPr>
              <a:t>varažskom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vladavinom</a:t>
            </a:r>
            <a:r>
              <a:rPr lang="en-US" dirty="0">
                <a:latin typeface="Baskerville Old Face" panose="02020602080505020303" pitchFamily="18" charset="0"/>
              </a:rPr>
              <a:t> grad je </a:t>
            </a:r>
            <a:r>
              <a:rPr lang="en-US" dirty="0" err="1">
                <a:latin typeface="Baskerville Old Face" panose="02020602080505020303" pitchFamily="18" charset="0"/>
              </a:rPr>
              <a:t>postao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prijestolnica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Kijevske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Rusije</a:t>
            </a:r>
            <a:r>
              <a:rPr lang="en-US" dirty="0">
                <a:latin typeface="Baskerville Old Face" panose="02020602080505020303" pitchFamily="18" charset="0"/>
              </a:rPr>
              <a:t>, </a:t>
            </a:r>
            <a:r>
              <a:rPr lang="en-US" dirty="0" err="1">
                <a:latin typeface="Baskerville Old Face" panose="02020602080505020303" pitchFamily="18" charset="0"/>
              </a:rPr>
              <a:t>prve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istočnoslavenske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države</a:t>
            </a:r>
            <a:r>
              <a:rPr lang="en-US" dirty="0">
                <a:latin typeface="Baskerville Old Face" panose="02020602080505020303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8863737"/>
      </p:ext>
    </p:extLst>
  </p:cSld>
  <p:clrMapOvr>
    <a:masterClrMapping/>
  </p:clrMapOvr>
  <p:transition spd="slow">
    <p:push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tile tx="-45720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0" y="260648"/>
            <a:ext cx="4355976" cy="1143000"/>
          </a:xfrm>
        </p:spPr>
        <p:txBody>
          <a:bodyPr/>
          <a:lstStyle/>
          <a:p>
            <a:r>
              <a:rPr lang="en-US" dirty="0" err="1">
                <a:latin typeface="Algerian" panose="04020705040A02060702" pitchFamily="82" charset="0"/>
              </a:rPr>
              <a:t>Populacija</a:t>
            </a:r>
            <a:endParaRPr lang="uk-UA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99592" y="1772816"/>
            <a:ext cx="7365504" cy="3254344"/>
          </a:xfrm>
          <a:solidFill>
            <a:schemeClr val="bg1">
              <a:lumMod val="95000"/>
              <a:alpha val="63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vi-VN" dirty="0">
              <a:latin typeface="Baskerville Old Face" panose="02020602080505020303" pitchFamily="18" charset="0"/>
            </a:endParaRPr>
          </a:p>
          <a:p>
            <a:pPr marL="0" indent="0" algn="ctr">
              <a:buNone/>
            </a:pPr>
            <a:r>
              <a:rPr lang="vi-VN" dirty="0">
                <a:latin typeface="Baskerville Old Face" panose="02020602080505020303" pitchFamily="18" charset="0"/>
              </a:rPr>
              <a:t>Kijev je najveći grad u Ukrajini i sedmi po broju stanovnika u Europi. </a:t>
            </a:r>
          </a:p>
          <a:p>
            <a:pPr marL="0" indent="0" algn="ctr">
              <a:buNone/>
            </a:pPr>
            <a:r>
              <a:rPr lang="vi-VN" dirty="0">
                <a:latin typeface="Baskerville Old Face" panose="02020602080505020303" pitchFamily="18" charset="0"/>
              </a:rPr>
              <a:t>Zajedno s okolnim predgrađima Kijev čini aglomeraciju Kijev s ukupnom populacijom od 3,4 do 5 milijuna stanovnika.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06498978"/>
      </p:ext>
    </p:extLst>
  </p:cSld>
  <p:clrMapOvr>
    <a:masterClrMapping/>
  </p:clrMapOvr>
  <p:transition spd="slow">
    <p:push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39947" y="119362"/>
            <a:ext cx="8229600" cy="1143000"/>
          </a:xfrm>
        </p:spPr>
        <p:txBody>
          <a:bodyPr/>
          <a:lstStyle/>
          <a:p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Algerian" panose="04020705040A02060702" pitchFamily="82" charset="0"/>
              </a:rPr>
              <a:t>Trg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Algerian" panose="04020705040A02060702" pitchFamily="82" charset="0"/>
              </a:rPr>
              <a:t>neovisnosti</a:t>
            </a:r>
            <a:endParaRPr lang="uk-UA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627784" y="1052736"/>
            <a:ext cx="6264696" cy="2736304"/>
          </a:xfrm>
          <a:solidFill>
            <a:schemeClr val="bg1">
              <a:lumMod val="95000"/>
              <a:alpha val="59000"/>
            </a:schemeClr>
          </a:solidFill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endParaRPr lang="vi-VN" dirty="0">
              <a:latin typeface="Baskerville Old Face" panose="02020602080505020303" pitchFamily="18" charset="0"/>
            </a:endParaRPr>
          </a:p>
          <a:p>
            <a:pPr marL="0" indent="0" algn="ctr">
              <a:buNone/>
            </a:pPr>
            <a:r>
              <a:rPr lang="vi-VN" dirty="0">
                <a:latin typeface="Baskerville Old Face" panose="02020602080505020303" pitchFamily="18" charset="0"/>
              </a:rPr>
              <a:t>Trg neovisnosti nalazi se u samom srcu Kijeva. U njemu su se dogodili mnogi važni povijesni događaji grada i okružen je značajnim zgradama. Trg je također mjesto za neke događaje i izložbe.</a:t>
            </a:r>
            <a:endParaRPr lang="uk-UA" dirty="0">
              <a:solidFill>
                <a:schemeClr val="tx1">
                  <a:lumMod val="95000"/>
                  <a:lumOff val="5000"/>
                </a:schemeClr>
              </a:solidFill>
              <a:ea typeface="Gadug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480854"/>
      </p:ext>
    </p:extLst>
  </p:cSld>
  <p:clrMapOvr>
    <a:masterClrMapping/>
  </p:clrMapOvr>
  <p:transition spd="slow">
    <p:push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с двумя вырезанными соседними углами 3"/>
          <p:cNvSpPr/>
          <p:nvPr/>
        </p:nvSpPr>
        <p:spPr>
          <a:xfrm>
            <a:off x="302639" y="908720"/>
            <a:ext cx="8409834" cy="5370509"/>
          </a:xfrm>
          <a:prstGeom prst="snip2SameRect">
            <a:avLst/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50000">
                <a:schemeClr val="accent2">
                  <a:lumMod val="20000"/>
                  <a:lumOff val="80000"/>
                  <a:alpha val="86000"/>
                </a:schemeClr>
              </a:gs>
              <a:gs pos="100000">
                <a:schemeClr val="accent2">
                  <a:lumMod val="40000"/>
                  <a:lumOff val="60000"/>
                  <a:alpha val="6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748603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err="1">
                <a:latin typeface="Algerian" panose="04020705040A02060702" pitchFamily="82" charset="0"/>
              </a:rPr>
              <a:t>Zlatna</a:t>
            </a:r>
            <a:r>
              <a:rPr lang="en-US" dirty="0">
                <a:latin typeface="Algerian" panose="04020705040A02060702" pitchFamily="82" charset="0"/>
              </a:rPr>
              <a:t> </a:t>
            </a:r>
            <a:r>
              <a:rPr lang="en-US" dirty="0" err="1">
                <a:latin typeface="Algerian" panose="04020705040A02060702" pitchFamily="82" charset="0"/>
              </a:rPr>
              <a:t>vrata</a:t>
            </a:r>
            <a:endParaRPr lang="uk-UA" dirty="0">
              <a:latin typeface="Bahnschrift" panose="020B0502040204020203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6767" y="3933056"/>
            <a:ext cx="3045225" cy="1440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Baskerville Old Face" panose="02020602080505020303" pitchFamily="18" charset="0"/>
              </a:rPr>
              <a:t>Ova </a:t>
            </a:r>
            <a:r>
              <a:rPr lang="en-US" sz="2400" dirty="0" err="1">
                <a:latin typeface="Baskerville Old Face" panose="02020602080505020303" pitchFamily="18" charset="0"/>
              </a:rPr>
              <a:t>su</a:t>
            </a:r>
            <a:r>
              <a:rPr lang="en-US" sz="2400" dirty="0">
                <a:latin typeface="Baskerville Old Face" panose="02020602080505020303" pitchFamily="18" charset="0"/>
              </a:rPr>
              <a:t> </a:t>
            </a:r>
            <a:r>
              <a:rPr lang="en-US" sz="2400" dirty="0" err="1">
                <a:latin typeface="Baskerville Old Face" panose="02020602080505020303" pitchFamily="18" charset="0"/>
              </a:rPr>
              <a:t>vrata</a:t>
            </a:r>
            <a:r>
              <a:rPr lang="en-US" sz="2400" dirty="0">
                <a:latin typeface="Baskerville Old Face" panose="02020602080505020303" pitchFamily="18" charset="0"/>
              </a:rPr>
              <a:t> </a:t>
            </a:r>
            <a:r>
              <a:rPr lang="en-US" sz="2400" dirty="0" err="1">
                <a:latin typeface="Baskerville Old Face" panose="02020602080505020303" pitchFamily="18" charset="0"/>
              </a:rPr>
              <a:t>bila</a:t>
            </a:r>
            <a:r>
              <a:rPr lang="en-US" sz="2400" dirty="0">
                <a:latin typeface="Baskerville Old Face" panose="02020602080505020303" pitchFamily="18" charset="0"/>
              </a:rPr>
              <a:t> </a:t>
            </a:r>
            <a:r>
              <a:rPr lang="en-US" sz="2400" dirty="0" err="1">
                <a:latin typeface="Baskerville Old Face" panose="02020602080505020303" pitchFamily="18" charset="0"/>
              </a:rPr>
              <a:t>glavna</a:t>
            </a:r>
            <a:r>
              <a:rPr lang="en-US" sz="2400" dirty="0">
                <a:latin typeface="Baskerville Old Face" panose="02020602080505020303" pitchFamily="18" charset="0"/>
              </a:rPr>
              <a:t> </a:t>
            </a:r>
            <a:r>
              <a:rPr lang="en-US" sz="2400" dirty="0" err="1">
                <a:latin typeface="Baskerville Old Face" panose="02020602080505020303" pitchFamily="18" charset="0"/>
              </a:rPr>
              <a:t>gradska</a:t>
            </a:r>
            <a:r>
              <a:rPr lang="en-US" sz="2400" dirty="0">
                <a:latin typeface="Baskerville Old Face" panose="02020602080505020303" pitchFamily="18" charset="0"/>
              </a:rPr>
              <a:t> </a:t>
            </a:r>
            <a:r>
              <a:rPr lang="en-US" sz="2400" dirty="0" err="1">
                <a:latin typeface="Baskerville Old Face" panose="02020602080505020303" pitchFamily="18" charset="0"/>
              </a:rPr>
              <a:t>vrata</a:t>
            </a:r>
            <a:r>
              <a:rPr lang="en-US" sz="2400" dirty="0">
                <a:latin typeface="Baskerville Old Face" panose="02020602080505020303" pitchFamily="18" charset="0"/>
              </a:rPr>
              <a:t> </a:t>
            </a:r>
            <a:r>
              <a:rPr lang="en-US" sz="2400" dirty="0" err="1">
                <a:latin typeface="Baskerville Old Face" panose="02020602080505020303" pitchFamily="18" charset="0"/>
              </a:rPr>
              <a:t>još</a:t>
            </a:r>
            <a:r>
              <a:rPr lang="en-US" sz="2400" dirty="0">
                <a:latin typeface="Baskerville Old Face" panose="02020602080505020303" pitchFamily="18" charset="0"/>
              </a:rPr>
              <a:t> u 11. </a:t>
            </a:r>
            <a:r>
              <a:rPr lang="en-US" sz="2400" dirty="0" err="1">
                <a:latin typeface="Baskerville Old Face" panose="02020602080505020303" pitchFamily="18" charset="0"/>
              </a:rPr>
              <a:t>stoljeću</a:t>
            </a:r>
            <a:r>
              <a:rPr lang="en-US" sz="2400" dirty="0">
                <a:latin typeface="Baskerville Old Face" panose="02020602080505020303" pitchFamily="18" charset="0"/>
              </a:rPr>
              <a:t>.</a:t>
            </a:r>
            <a:endParaRPr lang="uk-UA" sz="2400" dirty="0">
              <a:latin typeface="Bahnschrift" panose="020B0502040204020203" pitchFamily="34" charset="0"/>
            </a:endParaRPr>
          </a:p>
        </p:txBody>
      </p:sp>
      <p:pic>
        <p:nvPicPr>
          <p:cNvPr id="12290" name="Picture 2" descr="Золотые ворота в Киеве: история и значение древнего сооружения в разные  периоды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060848"/>
            <a:ext cx="5241482" cy="34399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Прямоугольник 4"/>
          <p:cNvSpPr/>
          <p:nvPr/>
        </p:nvSpPr>
        <p:spPr>
          <a:xfrm>
            <a:off x="302639" y="1886741"/>
            <a:ext cx="304522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400" dirty="0">
                <a:latin typeface="Baskerville Old Face" panose="02020602080505020303" pitchFamily="18" charset="0"/>
              </a:rPr>
              <a:t>Srednjovjekovna Zlatna vrata jedna su od najstarijih građevina pronađenih u Kijevu.</a:t>
            </a:r>
            <a:endParaRPr lang="uk-UA" sz="2400" dirty="0"/>
          </a:p>
        </p:txBody>
      </p:sp>
    </p:spTree>
    <p:extLst>
      <p:ext uri="{BB962C8B-B14F-4D97-AF65-F5344CB8AC3E}">
        <p14:creationId xmlns:p14="http://schemas.microsoft.com/office/powerpoint/2010/main" val="2991256663"/>
      </p:ext>
    </p:extLst>
  </p:cSld>
  <p:clrMapOvr>
    <a:masterClrMapping/>
  </p:clrMapOvr>
  <p:transition spd="slow">
    <p:push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tile tx="-52070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lgerian" panose="04020705040A02060702" pitchFamily="82" charset="0"/>
              </a:rPr>
              <a:t>Spomenik</a:t>
            </a:r>
            <a:r>
              <a:rPr lang="en-US" dirty="0">
                <a:latin typeface="Algerian" panose="04020705040A02060702" pitchFamily="82" charset="0"/>
              </a:rPr>
              <a:t> </a:t>
            </a:r>
            <a:r>
              <a:rPr lang="en-US" dirty="0" err="1">
                <a:latin typeface="Algerian" panose="04020705040A02060702" pitchFamily="82" charset="0"/>
              </a:rPr>
              <a:t>Domovini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1560" y="4869160"/>
            <a:ext cx="7931224" cy="1617043"/>
          </a:xfrm>
          <a:solidFill>
            <a:schemeClr val="bg1">
              <a:alpha val="53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err="1">
                <a:latin typeface="Baskerville Old Face" panose="02020602080505020303" pitchFamily="18" charset="0"/>
              </a:rPr>
              <a:t>Spomenik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Domovini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poznata</a:t>
            </a:r>
            <a:r>
              <a:rPr lang="en-US" dirty="0">
                <a:latin typeface="Baskerville Old Face" panose="02020602080505020303" pitchFamily="18" charset="0"/>
              </a:rPr>
              <a:t> je </a:t>
            </a:r>
            <a:r>
              <a:rPr lang="en-US" dirty="0" err="1">
                <a:latin typeface="Baskerville Old Face" panose="02020602080505020303" pitchFamily="18" charset="0"/>
              </a:rPr>
              <a:t>skulptura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Kijeva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i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odaje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počast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onima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koji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su</a:t>
            </a:r>
            <a:r>
              <a:rPr lang="en-US" dirty="0">
                <a:latin typeface="Baskerville Old Face" panose="02020602080505020303" pitchFamily="18" charset="0"/>
              </a:rPr>
              <a:t> se </a:t>
            </a:r>
            <a:r>
              <a:rPr lang="en-US" dirty="0" err="1">
                <a:latin typeface="Baskerville Old Face" panose="02020602080505020303" pitchFamily="18" charset="0"/>
              </a:rPr>
              <a:t>borili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i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sudjelovali</a:t>
            </a:r>
            <a:r>
              <a:rPr lang="en-US" dirty="0">
                <a:latin typeface="Baskerville Old Face" panose="02020602080505020303" pitchFamily="18" charset="0"/>
              </a:rPr>
              <a:t> u </a:t>
            </a:r>
            <a:r>
              <a:rPr lang="en-US" dirty="0" err="1">
                <a:latin typeface="Baskerville Old Face" panose="02020602080505020303" pitchFamily="18" charset="0"/>
              </a:rPr>
              <a:t>Prvom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i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Drugom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svjetskom</a:t>
            </a:r>
            <a:r>
              <a:rPr lang="en-US" dirty="0">
                <a:latin typeface="Baskerville Old Face" panose="02020602080505020303" pitchFamily="18" charset="0"/>
              </a:rPr>
              <a:t> </a:t>
            </a:r>
            <a:r>
              <a:rPr lang="en-US" dirty="0" err="1">
                <a:latin typeface="Baskerville Old Face" panose="02020602080505020303" pitchFamily="18" charset="0"/>
              </a:rPr>
              <a:t>ratu</a:t>
            </a:r>
            <a:r>
              <a:rPr lang="en-US" dirty="0">
                <a:latin typeface="Baskerville Old Face" panose="02020602080505020303" pitchFamily="18" charset="0"/>
              </a:rPr>
              <a:t>.</a:t>
            </a:r>
            <a:endParaRPr lang="uk-UA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909594"/>
      </p:ext>
    </p:extLst>
  </p:cSld>
  <p:clrMapOvr>
    <a:masterClrMapping/>
  </p:clrMapOvr>
  <p:transition spd="slow">
    <p:push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59424" y="908720"/>
            <a:ext cx="5184576" cy="3645023"/>
          </a:xfrm>
          <a:solidFill>
            <a:schemeClr val="bg1">
              <a:alpha val="48000"/>
            </a:schemeClr>
          </a:solidFill>
        </p:spPr>
        <p:txBody>
          <a:bodyPr/>
          <a:lstStyle/>
          <a:p>
            <a:pPr marL="0" indent="0" algn="ctr">
              <a:buNone/>
            </a:pPr>
            <a:r>
              <a:rPr lang="vi-VN" dirty="0">
                <a:latin typeface="Baskerville Old Face" panose="02020602080505020303" pitchFamily="18" charset="0"/>
              </a:rPr>
              <a:t>Spomenik-skulptura "Majka-domovina", visoka više od 100 metara, među pet je najviših spomenika na svijetu, a viša je čak i od američkog Kipa slobode.</a:t>
            </a:r>
            <a:endParaRPr lang="uk-UA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896664"/>
      </p:ext>
    </p:extLst>
  </p:cSld>
  <p:clrMapOvr>
    <a:masterClrMapping/>
  </p:clrMapOvr>
  <p:transition spd="slow">
    <p:push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828600" y="188640"/>
            <a:ext cx="8229600" cy="1143000"/>
          </a:xfrm>
        </p:spPr>
        <p:txBody>
          <a:bodyPr/>
          <a:lstStyle/>
          <a:p>
            <a:r>
              <a:rPr lang="en-US" dirty="0" err="1">
                <a:latin typeface="Algerian" panose="04020705040A02060702" pitchFamily="82" charset="0"/>
              </a:rPr>
              <a:t>Crkva</a:t>
            </a:r>
            <a:r>
              <a:rPr lang="en-US" dirty="0">
                <a:latin typeface="Algerian" panose="04020705040A02060702" pitchFamily="82" charset="0"/>
              </a:rPr>
              <a:t> </a:t>
            </a:r>
            <a:r>
              <a:rPr lang="en-US" dirty="0" err="1">
                <a:latin typeface="Algerian" panose="04020705040A02060702" pitchFamily="82" charset="0"/>
              </a:rPr>
              <a:t>svetog</a:t>
            </a:r>
            <a:r>
              <a:rPr lang="en-US" dirty="0">
                <a:latin typeface="Algerian" panose="04020705040A02060702" pitchFamily="82" charset="0"/>
              </a:rPr>
              <a:t> </a:t>
            </a:r>
            <a:r>
              <a:rPr lang="en-US" dirty="0" err="1">
                <a:latin typeface="Algerian" panose="04020705040A02060702" pitchFamily="82" charset="0"/>
              </a:rPr>
              <a:t>Andrije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552" y="1988840"/>
            <a:ext cx="4104456" cy="3600399"/>
          </a:xfrm>
          <a:solidFill>
            <a:schemeClr val="bg1">
              <a:alpha val="48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vi-VN" dirty="0">
                <a:latin typeface="Baskerville Old Face" panose="02020602080505020303" pitchFamily="18" charset="0"/>
              </a:rPr>
              <a:t>Crkva sv. Andrije izgrađena je 17. stoljeća, a projektirao ju je Bartolomeo Rastrelli, a krasi je klasična barokna arhitektura.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24852187"/>
      </p:ext>
    </p:extLst>
  </p:cSld>
  <p:clrMapOvr>
    <a:masterClrMapping/>
  </p:clrMapOvr>
  <p:transition spd="slow">
    <p:push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628900" y="692696"/>
            <a:ext cx="7972363" cy="5352064"/>
          </a:xfrm>
          <a:prstGeom prst="roundRect">
            <a:avLst/>
          </a:prstGeom>
          <a:gradFill>
            <a:gsLst>
              <a:gs pos="0">
                <a:schemeClr val="accent5">
                  <a:lumMod val="20000"/>
                  <a:lumOff val="80000"/>
                  <a:alpha val="1000"/>
                </a:schemeClr>
              </a:gs>
              <a:gs pos="80000">
                <a:schemeClr val="accent5">
                  <a:lumMod val="20000"/>
                  <a:lumOff val="80000"/>
                  <a:alpha val="55000"/>
                </a:schemeClr>
              </a:gs>
              <a:gs pos="100000">
                <a:schemeClr val="accent5">
                  <a:lumMod val="40000"/>
                  <a:lumOff val="60000"/>
                  <a:alpha val="44000"/>
                </a:schemeClr>
              </a:gs>
            </a:gsLst>
            <a:lin ang="16200000" scaled="1"/>
          </a:gradFill>
          <a:ln>
            <a:noFill/>
          </a:ln>
          <a:effectLst>
            <a:glow>
              <a:schemeClr val="accent1">
                <a:alpha val="0"/>
              </a:schemeClr>
            </a:glow>
            <a:outerShdw blurRad="40000" dist="20000" dir="5400000" rotWithShape="0">
              <a:srgbClr val="000000">
                <a:alpha val="17000"/>
              </a:srgbClr>
            </a:outerShdw>
            <a:reflection stA="0" endPos="65000" dist="50800" dir="5400000" sy="-100000" algn="bl" rotWithShape="0"/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468827" y="1844824"/>
            <a:ext cx="4292507" cy="2434038"/>
          </a:xfrm>
        </p:spPr>
        <p:txBody>
          <a:bodyPr>
            <a:normAutofit fontScale="90000"/>
          </a:bodyPr>
          <a:lstStyle/>
          <a:p>
            <a:r>
              <a:rPr lang="hr-HR" sz="8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Hvala na pažnji.</a:t>
            </a:r>
            <a:endParaRPr lang="uk-UA" sz="8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6896918"/>
      </p:ext>
    </p:extLst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E24FF507FE9BF45A1B9949CC1D8A8F1" ma:contentTypeVersion="12" ma:contentTypeDescription="Stvaranje novog dokumenta." ma:contentTypeScope="" ma:versionID="ec6abb3825f8bf439eae8678c9103d9a">
  <xsd:schema xmlns:xsd="http://www.w3.org/2001/XMLSchema" xmlns:xs="http://www.w3.org/2001/XMLSchema" xmlns:p="http://schemas.microsoft.com/office/2006/metadata/properties" xmlns:ns2="ebd987d9-ab58-451f-aafb-34eb8af7e144" xmlns:ns3="59daf87c-096b-4f04-8475-ec21082ac99f" targetNamespace="http://schemas.microsoft.com/office/2006/metadata/properties" ma:root="true" ma:fieldsID="be1ed8ef033844a08f1f226e0bb3526b" ns2:_="" ns3:_="">
    <xsd:import namespace="ebd987d9-ab58-451f-aafb-34eb8af7e144"/>
    <xsd:import namespace="59daf87c-096b-4f04-8475-ec21082ac9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d987d9-ab58-451f-aafb-34eb8af7e1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Oznake slika" ma:readOnly="false" ma:fieldId="{5cf76f15-5ced-4ddc-b409-7134ff3c332f}" ma:taxonomyMulti="true" ma:sspId="a0d909bf-645b-46a2-8bb9-ccdb743347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daf87c-096b-4f04-8475-ec21082ac99f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Zajednički se koristi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ji o zajedničkom korištenju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D7C1C7-1E81-4328-98AA-56B50BE840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bd987d9-ab58-451f-aafb-34eb8af7e144"/>
    <ds:schemaRef ds:uri="59daf87c-096b-4f04-8475-ec21082ac9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6C1F167-14D6-4246-BF60-7851925F5F0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308</Words>
  <Application>Microsoft Office PowerPoint</Application>
  <PresentationFormat>Prikaz na zaslonu (4:3)</PresentationFormat>
  <Paragraphs>27</Paragraphs>
  <Slides>12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8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12</vt:i4>
      </vt:variant>
    </vt:vector>
  </HeadingPairs>
  <TitlesOfParts>
    <vt:vector size="21" baseType="lpstr">
      <vt:lpstr>Algerian</vt:lpstr>
      <vt:lpstr>Arial</vt:lpstr>
      <vt:lpstr>Bahnschrift</vt:lpstr>
      <vt:lpstr>Baskerville Old Face</vt:lpstr>
      <vt:lpstr>Book Antiqua</vt:lpstr>
      <vt:lpstr>Broadway</vt:lpstr>
      <vt:lpstr>Calibri</vt:lpstr>
      <vt:lpstr>Gadugi</vt:lpstr>
      <vt:lpstr>Тема Office</vt:lpstr>
      <vt:lpstr>Kyiv</vt:lpstr>
      <vt:lpstr>Kyiv   je</vt:lpstr>
      <vt:lpstr>Mjesto</vt:lpstr>
      <vt:lpstr>Povijest</vt:lpstr>
      <vt:lpstr>PowerPoint prezentacija</vt:lpstr>
      <vt:lpstr>Populacija</vt:lpstr>
      <vt:lpstr>Trg neovisnosti</vt:lpstr>
      <vt:lpstr>Zlatna vrata</vt:lpstr>
      <vt:lpstr>Spomenik Domovini</vt:lpstr>
      <vt:lpstr>PowerPoint prezentacija</vt:lpstr>
      <vt:lpstr>Crkva svetog Andrije</vt:lpstr>
      <vt:lpstr>Hvala na pažnji.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Дім</dc:creator>
  <cp:lastModifiedBy>Arsen Pshevlotskyi</cp:lastModifiedBy>
  <cp:revision>39</cp:revision>
  <dcterms:created xsi:type="dcterms:W3CDTF">2023-03-13T15:35:58Z</dcterms:created>
  <dcterms:modified xsi:type="dcterms:W3CDTF">2026-04-08T18:53:08Z</dcterms:modified>
</cp:coreProperties>
</file>