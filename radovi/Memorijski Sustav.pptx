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75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43793" y="2548512"/>
            <a:ext cx="6304412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CCCCC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CCCCC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19750" y="1924050"/>
            <a:ext cx="952499" cy="761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7" Type="http://schemas.openxmlformats.org/officeDocument/2006/relationships/image" Target="../media/image1.png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8325" y="359536"/>
            <a:ext cx="7042784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013267"/>
            <a:ext cx="5337810" cy="3782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CCCCC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 /><Relationship Id="rId3" Type="http://schemas.openxmlformats.org/officeDocument/2006/relationships/image" Target="../media/image8.png" /><Relationship Id="rId7" Type="http://schemas.openxmlformats.org/officeDocument/2006/relationships/image" Target="../media/image12.png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1.png" /><Relationship Id="rId5" Type="http://schemas.openxmlformats.org/officeDocument/2006/relationships/image" Target="../media/image10.png" /><Relationship Id="rId4" Type="http://schemas.openxmlformats.org/officeDocument/2006/relationships/image" Target="../media/image9.png" /><Relationship Id="rId9" Type="http://schemas.openxmlformats.org/officeDocument/2006/relationships/image" Target="../media/image14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3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 /><Relationship Id="rId3" Type="http://schemas.openxmlformats.org/officeDocument/2006/relationships/image" Target="../media/image8.png" /><Relationship Id="rId7" Type="http://schemas.openxmlformats.org/officeDocument/2006/relationships/image" Target="../media/image20.png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1.png" /><Relationship Id="rId5" Type="http://schemas.openxmlformats.org/officeDocument/2006/relationships/image" Target="../media/image19.png" /><Relationship Id="rId4" Type="http://schemas.openxmlformats.org/officeDocument/2006/relationships/image" Target="../media/image9.png" /><Relationship Id="rId9" Type="http://schemas.openxmlformats.org/officeDocument/2006/relationships/image" Target="../media/image21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25.png" /><Relationship Id="rId4" Type="http://schemas.openxmlformats.org/officeDocument/2006/relationships/image" Target="../media/image24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 /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 /><Relationship Id="rId2" Type="http://schemas.openxmlformats.org/officeDocument/2006/relationships/image" Target="../media/image27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image" Target="../media/image29.pn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lika 10" descr="Slika na kojoj se prikazuje tekst, elektronička komponenta, Računalni hardver, elektroničko inženjerstvo&#10;&#10;Sadržaj generiran uz AI možda nije točan.">
            <a:extLst>
              <a:ext uri="{FF2B5EF4-FFF2-40B4-BE49-F238E27FC236}">
                <a16:creationId xmlns:a16="http://schemas.microsoft.com/office/drawing/2014/main" id="{A71148B2-94AB-F62A-E27E-BB78C888F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" t="16293" r="48" b="8178"/>
          <a:stretch>
            <a:fillRect/>
          </a:stretch>
        </p:blipFill>
        <p:spPr>
          <a:xfrm>
            <a:off x="-29496" y="-76201"/>
            <a:ext cx="12221495" cy="6934202"/>
          </a:xfrm>
          <a:prstGeom prst="rect">
            <a:avLst/>
          </a:prstGeom>
        </p:spPr>
      </p:pic>
      <p:sp>
        <p:nvSpPr>
          <p:cNvPr id="7" name="Pravokutnik 6">
            <a:extLst>
              <a:ext uri="{FF2B5EF4-FFF2-40B4-BE49-F238E27FC236}">
                <a16:creationId xmlns:a16="http://schemas.microsoft.com/office/drawing/2014/main" id="{FEE9D443-B333-C897-BECF-6074AF1DADEA}"/>
              </a:ext>
            </a:extLst>
          </p:cNvPr>
          <p:cNvSpPr/>
          <p:nvPr/>
        </p:nvSpPr>
        <p:spPr>
          <a:xfrm>
            <a:off x="-24580" y="-76201"/>
            <a:ext cx="12192000" cy="6934201"/>
          </a:xfrm>
          <a:prstGeom prst="rect">
            <a:avLst/>
          </a:prstGeom>
          <a:solidFill>
            <a:srgbClr val="0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lang="hr-HR" sz="6000" spc="-145" noProof="0" dirty="0"/>
              <a:t>Memorijski</a:t>
            </a:r>
            <a:r>
              <a:rPr lang="hr-HR" sz="6000" spc="-280" noProof="0" dirty="0"/>
              <a:t> </a:t>
            </a:r>
            <a:r>
              <a:rPr lang="hr-HR" sz="6000" spc="70" noProof="0" dirty="0"/>
              <a:t>Sustav</a:t>
            </a:r>
            <a:endParaRPr lang="hr-HR" sz="6000" noProof="0" dirty="0"/>
          </a:p>
        </p:txBody>
      </p:sp>
      <p:sp>
        <p:nvSpPr>
          <p:cNvPr id="3" name="object 3"/>
          <p:cNvSpPr txBox="1"/>
          <p:nvPr/>
        </p:nvSpPr>
        <p:spPr>
          <a:xfrm>
            <a:off x="3474850" y="3673224"/>
            <a:ext cx="523938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z="2100" spc="-10" noProof="0" dirty="0">
                <a:solidFill>
                  <a:srgbClr val="00B8FF"/>
                </a:solidFill>
                <a:latin typeface="Trebuchet MS"/>
                <a:cs typeface="Trebuchet MS"/>
              </a:rPr>
              <a:t>ARHITEKTURA,</a:t>
            </a:r>
            <a:r>
              <a:rPr lang="hr-HR" sz="2100" spc="-105" noProof="0" dirty="0">
                <a:solidFill>
                  <a:srgbClr val="00B8FF"/>
                </a:solidFill>
                <a:latin typeface="Trebuchet MS"/>
                <a:cs typeface="Trebuchet MS"/>
              </a:rPr>
              <a:t> </a:t>
            </a:r>
            <a:r>
              <a:rPr lang="hr-HR" sz="2100" spc="-30" noProof="0" dirty="0">
                <a:solidFill>
                  <a:srgbClr val="00B8FF"/>
                </a:solidFill>
                <a:latin typeface="Trebuchet MS"/>
                <a:cs typeface="Trebuchet MS"/>
              </a:rPr>
              <a:t>HIJERARHIJA</a:t>
            </a:r>
            <a:r>
              <a:rPr lang="hr-HR" sz="2100" spc="-100" noProof="0" dirty="0">
                <a:solidFill>
                  <a:srgbClr val="00B8FF"/>
                </a:solidFill>
                <a:latin typeface="Trebuchet MS"/>
                <a:cs typeface="Trebuchet MS"/>
              </a:rPr>
              <a:t> </a:t>
            </a:r>
            <a:r>
              <a:rPr lang="hr-HR" sz="2100" spc="-105" noProof="0" dirty="0">
                <a:solidFill>
                  <a:srgbClr val="00B8FF"/>
                </a:solidFill>
                <a:latin typeface="Trebuchet MS"/>
                <a:cs typeface="Trebuchet MS"/>
              </a:rPr>
              <a:t>I </a:t>
            </a:r>
            <a:r>
              <a:rPr lang="hr-HR" sz="2100" spc="-10" noProof="0" dirty="0">
                <a:solidFill>
                  <a:srgbClr val="00B8FF"/>
                </a:solidFill>
                <a:latin typeface="Trebuchet MS"/>
                <a:cs typeface="Trebuchet MS"/>
              </a:rPr>
              <a:t>TEHNOLOGIJE</a:t>
            </a:r>
            <a:endParaRPr lang="hr-HR" sz="2100" noProof="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08076" y="3386137"/>
            <a:ext cx="3245047" cy="7048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38875" y="3386137"/>
            <a:ext cx="3245047" cy="7048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08076" y="4376737"/>
            <a:ext cx="3245047" cy="7048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38875" y="4376737"/>
            <a:ext cx="3245047" cy="70484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769557" y="1739327"/>
            <a:ext cx="47999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z="4800" spc="-85" noProof="0" dirty="0"/>
              <a:t>Pregled</a:t>
            </a:r>
            <a:r>
              <a:rPr lang="hr-HR" sz="4800" spc="-245" noProof="0" dirty="0"/>
              <a:t> </a:t>
            </a:r>
            <a:r>
              <a:rPr lang="hr-HR" sz="4800" spc="55" noProof="0" dirty="0"/>
              <a:t>Sadržaja</a:t>
            </a:r>
            <a:endParaRPr lang="hr-HR" sz="4800" noProof="0" dirty="0"/>
          </a:p>
        </p:txBody>
      </p:sp>
      <p:sp>
        <p:nvSpPr>
          <p:cNvPr id="8" name="object 8"/>
          <p:cNvSpPr txBox="1"/>
          <p:nvPr/>
        </p:nvSpPr>
        <p:spPr>
          <a:xfrm>
            <a:off x="2885876" y="3553268"/>
            <a:ext cx="2959100" cy="1336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z="2100" b="1" spc="-425" noProof="0" dirty="0">
                <a:solidFill>
                  <a:srgbClr val="FFFFFF"/>
                </a:solidFill>
                <a:latin typeface="Trebuchet MS"/>
                <a:cs typeface="Trebuchet MS"/>
              </a:rPr>
              <a:t>1.</a:t>
            </a:r>
            <a:r>
              <a:rPr lang="hr-HR" sz="2100" b="1" spc="-120" noProof="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hr-HR" sz="2100" b="1" spc="-25" noProof="0" dirty="0">
                <a:solidFill>
                  <a:srgbClr val="FFFFFF"/>
                </a:solidFill>
                <a:latin typeface="Trebuchet MS"/>
                <a:cs typeface="Trebuchet MS"/>
              </a:rPr>
              <a:t>Osnovni</a:t>
            </a:r>
            <a:r>
              <a:rPr lang="hr-HR" sz="2100" b="1" spc="-120" noProof="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hr-HR" sz="2100" b="1" spc="-10" noProof="0" dirty="0">
                <a:solidFill>
                  <a:srgbClr val="FFFFFF"/>
                </a:solidFill>
                <a:latin typeface="Trebuchet MS"/>
                <a:cs typeface="Trebuchet MS"/>
              </a:rPr>
              <a:t>Pojmovi</a:t>
            </a:r>
            <a:endParaRPr lang="hr-HR" sz="2100" noProof="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lang="hr-HR" sz="2100" noProof="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hr-HR" sz="2100" noProof="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lang="hr-HR" sz="2100" b="1" spc="-240" noProof="0" dirty="0">
                <a:solidFill>
                  <a:srgbClr val="FFFFFF"/>
                </a:solidFill>
                <a:latin typeface="Trebuchet MS"/>
                <a:cs typeface="Trebuchet MS"/>
              </a:rPr>
              <a:t>3.</a:t>
            </a:r>
            <a:r>
              <a:rPr lang="hr-HR" sz="2100" b="1" spc="-114" noProof="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hr-HR" sz="2100" b="1" spc="-10" noProof="0" dirty="0">
                <a:solidFill>
                  <a:srgbClr val="FFFFFF"/>
                </a:solidFill>
                <a:latin typeface="Trebuchet MS"/>
                <a:cs typeface="Trebuchet MS"/>
              </a:rPr>
              <a:t>Sekundarna</a:t>
            </a:r>
            <a:r>
              <a:rPr lang="hr-HR" sz="2100" b="1" spc="-110" noProof="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hr-HR" sz="2100" b="1" spc="-10" noProof="0" dirty="0">
                <a:solidFill>
                  <a:srgbClr val="FFFFFF"/>
                </a:solidFill>
                <a:latin typeface="Trebuchet MS"/>
                <a:cs typeface="Trebuchet MS"/>
              </a:rPr>
              <a:t>Memorija</a:t>
            </a:r>
            <a:endParaRPr lang="hr-HR" sz="2100" noProof="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16675" y="3553268"/>
            <a:ext cx="2439670" cy="1336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z="2100" b="1" spc="-180" noProof="0" dirty="0">
                <a:solidFill>
                  <a:srgbClr val="FFFFFF"/>
                </a:solidFill>
                <a:latin typeface="Trebuchet MS"/>
                <a:cs typeface="Trebuchet MS"/>
              </a:rPr>
              <a:t>2.</a:t>
            </a:r>
            <a:r>
              <a:rPr lang="hr-HR" sz="2100" b="1" noProof="0" dirty="0">
                <a:solidFill>
                  <a:srgbClr val="FFFFFF"/>
                </a:solidFill>
                <a:latin typeface="Trebuchet MS"/>
                <a:cs typeface="Trebuchet MS"/>
              </a:rPr>
              <a:t> Glavna</a:t>
            </a:r>
            <a:r>
              <a:rPr lang="hr-HR" sz="2100" b="1" spc="5" noProof="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hr-HR" sz="2100" b="1" spc="-10" noProof="0" dirty="0">
                <a:solidFill>
                  <a:srgbClr val="FFFFFF"/>
                </a:solidFill>
                <a:latin typeface="Trebuchet MS"/>
                <a:cs typeface="Trebuchet MS"/>
              </a:rPr>
              <a:t>Memorija</a:t>
            </a:r>
            <a:endParaRPr lang="hr-HR" sz="2100" noProof="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lang="hr-HR" sz="2100" noProof="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hr-HR" sz="2100" noProof="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lang="hr-HR" sz="2100" b="1" spc="-170" noProof="0" dirty="0">
                <a:solidFill>
                  <a:srgbClr val="FFFFFF"/>
                </a:solidFill>
                <a:latin typeface="Trebuchet MS"/>
                <a:cs typeface="Trebuchet MS"/>
              </a:rPr>
              <a:t>4.</a:t>
            </a:r>
            <a:r>
              <a:rPr lang="hr-HR" sz="2100" b="1" spc="-105" noProof="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hr-HR" sz="2100" b="1" spc="-45" noProof="0" dirty="0">
                <a:solidFill>
                  <a:srgbClr val="FFFFFF"/>
                </a:solidFill>
                <a:latin typeface="Trebuchet MS"/>
                <a:cs typeface="Trebuchet MS"/>
              </a:rPr>
              <a:t>Optičke</a:t>
            </a:r>
            <a:r>
              <a:rPr lang="hr-HR" sz="2100" b="1" spc="-105" noProof="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hr-HR" sz="2100" b="1" spc="-35" noProof="0" dirty="0">
                <a:solidFill>
                  <a:srgbClr val="FFFFFF"/>
                </a:solidFill>
                <a:latin typeface="Trebuchet MS"/>
                <a:cs typeface="Trebuchet MS"/>
              </a:rPr>
              <a:t>Memorije</a:t>
            </a:r>
            <a:endParaRPr lang="hr-HR" sz="2100" noProof="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525" y="2209800"/>
            <a:ext cx="3613099" cy="33718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9375" y="2209800"/>
            <a:ext cx="3613099" cy="33718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88225" y="2209800"/>
            <a:ext cx="3613099" cy="33718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911250" y="2505075"/>
            <a:ext cx="571500" cy="571500"/>
            <a:chOff x="1911250" y="2505075"/>
            <a:chExt cx="571500" cy="57150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11250" y="2505075"/>
              <a:ext cx="571499" cy="5714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68400" y="2562225"/>
              <a:ext cx="457199" cy="45719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691707" y="3243707"/>
            <a:ext cx="101155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z="2100" b="1" spc="-70" noProof="0" dirty="0">
                <a:solidFill>
                  <a:srgbClr val="00FF88"/>
                </a:solidFill>
                <a:latin typeface="Trebuchet MS"/>
                <a:cs typeface="Trebuchet MS"/>
              </a:rPr>
              <a:t>Jedinice</a:t>
            </a:r>
            <a:endParaRPr lang="hr-HR" sz="2100" noProof="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9681" y="3827780"/>
            <a:ext cx="2756535" cy="1244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lang="hr-HR" sz="1500" b="1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Bit</a:t>
            </a:r>
            <a:r>
              <a:rPr lang="hr-HR" sz="1500" b="1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b="1" spc="-45" noProof="0" dirty="0">
                <a:solidFill>
                  <a:srgbClr val="CCCCCC"/>
                </a:solidFill>
                <a:latin typeface="Trebuchet MS"/>
                <a:cs typeface="Trebuchet MS"/>
              </a:rPr>
              <a:t>(b):</a:t>
            </a:r>
            <a:r>
              <a:rPr lang="hr-HR" sz="1500" b="1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30" noProof="0" dirty="0">
                <a:solidFill>
                  <a:srgbClr val="CCCCCC"/>
                </a:solidFill>
                <a:latin typeface="Trebuchet MS"/>
                <a:cs typeface="Trebuchet MS"/>
              </a:rPr>
              <a:t>Najmanja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jedinica</a:t>
            </a:r>
            <a:r>
              <a:rPr lang="hr-HR" sz="1500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(0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45" noProof="0" dirty="0">
                <a:solidFill>
                  <a:srgbClr val="CCCCCC"/>
                </a:solidFill>
                <a:latin typeface="Trebuchet MS"/>
                <a:cs typeface="Trebuchet MS"/>
              </a:rPr>
              <a:t>ili</a:t>
            </a:r>
            <a:r>
              <a:rPr lang="hr-HR" sz="1500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280" noProof="0" dirty="0">
                <a:solidFill>
                  <a:srgbClr val="CCCCCC"/>
                </a:solidFill>
                <a:latin typeface="Trebuchet MS"/>
                <a:cs typeface="Trebuchet MS"/>
              </a:rPr>
              <a:t>1).</a:t>
            </a:r>
            <a:endParaRPr lang="hr-HR" sz="1500" noProof="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hr-HR" sz="1500" b="1" spc="-50" noProof="0" dirty="0">
                <a:solidFill>
                  <a:srgbClr val="CCCCCC"/>
                </a:solidFill>
                <a:latin typeface="Trebuchet MS"/>
                <a:cs typeface="Trebuchet MS"/>
              </a:rPr>
              <a:t>Bajt</a:t>
            </a:r>
            <a:r>
              <a:rPr lang="hr-HR" sz="1500" b="1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 (B):</a:t>
            </a:r>
            <a:r>
              <a:rPr lang="hr-HR" sz="1500" b="1" spc="-5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Grupa</a:t>
            </a:r>
            <a:r>
              <a:rPr lang="hr-HR" sz="1500" spc="-5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od</a:t>
            </a:r>
            <a:r>
              <a:rPr lang="hr-HR" sz="1500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8</a:t>
            </a:r>
            <a:r>
              <a:rPr lang="hr-HR" sz="1500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20" noProof="0" dirty="0">
                <a:solidFill>
                  <a:srgbClr val="CCCCCC"/>
                </a:solidFill>
                <a:latin typeface="Trebuchet MS"/>
                <a:cs typeface="Trebuchet MS"/>
              </a:rPr>
              <a:t>bita.</a:t>
            </a:r>
            <a:endParaRPr lang="hr-HR" sz="1500" noProof="0" dirty="0">
              <a:latin typeface="Trebuchet MS"/>
              <a:cs typeface="Trebuchet MS"/>
            </a:endParaRPr>
          </a:p>
          <a:p>
            <a:pPr marL="12700" marR="5080" algn="ctr">
              <a:lnSpc>
                <a:spcPct val="133300"/>
              </a:lnSpc>
            </a:pPr>
            <a:r>
              <a:rPr lang="hr-HR" sz="1500" b="1" spc="-105" noProof="0" dirty="0">
                <a:solidFill>
                  <a:srgbClr val="CCCCCC"/>
                </a:solidFill>
                <a:latin typeface="Trebuchet MS"/>
                <a:cs typeface="Trebuchet MS"/>
              </a:rPr>
              <a:t>Riječ:</a:t>
            </a:r>
            <a:r>
              <a:rPr lang="hr-HR" sz="1500" b="1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40" noProof="0" dirty="0">
                <a:solidFill>
                  <a:srgbClr val="CCCCCC"/>
                </a:solidFill>
                <a:latin typeface="Trebuchet MS"/>
                <a:cs typeface="Trebuchet MS"/>
              </a:rPr>
              <a:t>Prirodna</a:t>
            </a:r>
            <a:r>
              <a:rPr lang="hr-HR" sz="1500" spc="-5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jedinica</a:t>
            </a:r>
            <a:r>
              <a:rPr lang="hr-HR" sz="1500" spc="-5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podataka </a:t>
            </a:r>
            <a:r>
              <a:rPr lang="hr-HR" sz="1500" spc="-40" noProof="0" dirty="0">
                <a:solidFill>
                  <a:srgbClr val="CCCCCC"/>
                </a:solidFill>
                <a:latin typeface="Trebuchet MS"/>
                <a:cs typeface="Trebuchet MS"/>
              </a:rPr>
              <a:t>(32</a:t>
            </a:r>
            <a:r>
              <a:rPr lang="hr-HR" sz="1500" spc="-8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45" noProof="0" dirty="0">
                <a:solidFill>
                  <a:srgbClr val="CCCCCC"/>
                </a:solidFill>
                <a:latin typeface="Trebuchet MS"/>
                <a:cs typeface="Trebuchet MS"/>
              </a:rPr>
              <a:t>ili</a:t>
            </a:r>
            <a:r>
              <a:rPr lang="hr-HR" sz="1500" spc="-8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64</a:t>
            </a:r>
            <a:r>
              <a:rPr lang="hr-HR" sz="1500" spc="-8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bita).</a:t>
            </a:r>
            <a:endParaRPr lang="hr-HR" sz="1500" noProof="0" dirty="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810101" y="2505075"/>
            <a:ext cx="571500" cy="571500"/>
            <a:chOff x="5810101" y="2505075"/>
            <a:chExt cx="571500" cy="57150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10101" y="2505075"/>
              <a:ext cx="571499" cy="5714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38676" y="2562225"/>
              <a:ext cx="514349" cy="45719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5392067" y="3243707"/>
            <a:ext cx="140779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z="2100" b="1" spc="-50" noProof="0" dirty="0">
                <a:solidFill>
                  <a:srgbClr val="00FF88"/>
                </a:solidFill>
                <a:latin typeface="Trebuchet MS"/>
                <a:cs typeface="Trebuchet MS"/>
              </a:rPr>
              <a:t>Adresiranje</a:t>
            </a:r>
            <a:endParaRPr lang="hr-HR" sz="2100" noProof="0" dirty="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40713" y="3903979"/>
            <a:ext cx="2911475" cy="1351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Svaka</a:t>
            </a:r>
            <a:r>
              <a:rPr lang="hr-HR" sz="1500" spc="1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35" noProof="0" dirty="0">
                <a:solidFill>
                  <a:srgbClr val="CCCCCC"/>
                </a:solidFill>
                <a:latin typeface="Trebuchet MS"/>
                <a:cs typeface="Trebuchet MS"/>
              </a:rPr>
              <a:t>memorijska</a:t>
            </a:r>
            <a:r>
              <a:rPr lang="hr-HR" sz="1500" spc="2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lokacija</a:t>
            </a:r>
            <a:r>
              <a:rPr lang="hr-HR" sz="1500" spc="1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25" noProof="0" dirty="0">
                <a:solidFill>
                  <a:srgbClr val="CCCCCC"/>
                </a:solidFill>
                <a:latin typeface="Trebuchet MS"/>
                <a:cs typeface="Trebuchet MS"/>
              </a:rPr>
              <a:t>ima</a:t>
            </a:r>
            <a:endParaRPr lang="hr-HR" sz="1500" noProof="0" dirty="0">
              <a:latin typeface="Trebuchet MS"/>
              <a:cs typeface="Trebuchet MS"/>
            </a:endParaRPr>
          </a:p>
          <a:p>
            <a:pPr marL="12700" marR="5080" algn="ctr">
              <a:lnSpc>
                <a:spcPct val="160000"/>
              </a:lnSpc>
            </a:pPr>
            <a:r>
              <a:rPr lang="hr-HR" sz="1500" spc="-50" noProof="0" dirty="0">
                <a:solidFill>
                  <a:srgbClr val="CCCCCC"/>
                </a:solidFill>
                <a:latin typeface="Trebuchet MS"/>
                <a:cs typeface="Trebuchet MS"/>
              </a:rPr>
              <a:t>jedinstvenu</a:t>
            </a:r>
            <a:r>
              <a:rPr lang="hr-HR" sz="1500" spc="-4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50" noProof="0" dirty="0">
                <a:solidFill>
                  <a:srgbClr val="CCCCCC"/>
                </a:solidFill>
                <a:latin typeface="Trebuchet MS"/>
                <a:cs typeface="Trebuchet MS"/>
              </a:rPr>
              <a:t>adresu.</a:t>
            </a:r>
            <a:r>
              <a:rPr lang="hr-HR" sz="1500" spc="-4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20" noProof="0" dirty="0">
                <a:solidFill>
                  <a:srgbClr val="CCCCCC"/>
                </a:solidFill>
                <a:latin typeface="Trebuchet MS"/>
                <a:cs typeface="Trebuchet MS"/>
              </a:rPr>
              <a:t>Procesor</a:t>
            </a:r>
            <a:r>
              <a:rPr lang="hr-HR" sz="1500" spc="-4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koristi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adresnu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35" noProof="0" dirty="0">
                <a:solidFill>
                  <a:srgbClr val="CCCCCC"/>
                </a:solidFill>
                <a:latin typeface="Trebuchet MS"/>
                <a:cs typeface="Trebuchet MS"/>
              </a:rPr>
              <a:t>sabirnicu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55" noProof="0" dirty="0">
                <a:solidFill>
                  <a:srgbClr val="CCCCCC"/>
                </a:solidFill>
                <a:latin typeface="Trebuchet MS"/>
                <a:cs typeface="Trebuchet MS"/>
              </a:rPr>
              <a:t>za</a:t>
            </a:r>
            <a:r>
              <a:rPr lang="hr-HR" sz="1500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pristup </a:t>
            </a:r>
            <a:r>
              <a:rPr lang="hr-HR" sz="1500" spc="-20" noProof="0" dirty="0">
                <a:solidFill>
                  <a:srgbClr val="CCCCCC"/>
                </a:solidFill>
                <a:latin typeface="Trebuchet MS"/>
                <a:cs typeface="Trebuchet MS"/>
              </a:rPr>
              <a:t>specifičnom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podatku.</a:t>
            </a:r>
            <a:endParaRPr lang="hr-HR" sz="1500" noProof="0" dirty="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708950" y="2505075"/>
            <a:ext cx="571500" cy="571500"/>
            <a:chOff x="9708950" y="2505075"/>
            <a:chExt cx="571500" cy="571500"/>
          </a:xfrm>
        </p:grpSpPr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08950" y="2505075"/>
              <a:ext cx="571499" cy="5714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794675" y="2562225"/>
              <a:ext cx="400049" cy="45719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9403863" y="3243707"/>
            <a:ext cx="11817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z="2100" b="1" spc="-30" noProof="0" dirty="0">
                <a:solidFill>
                  <a:srgbClr val="00FF88"/>
                </a:solidFill>
                <a:latin typeface="Trebuchet MS"/>
                <a:cs typeface="Trebuchet MS"/>
              </a:rPr>
              <a:t>Kapacitet</a:t>
            </a:r>
            <a:endParaRPr lang="hr-HR" sz="2100" noProof="0" dirty="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615667" y="3903979"/>
            <a:ext cx="2759075" cy="1351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Ukupna</a:t>
            </a:r>
            <a:r>
              <a:rPr lang="hr-HR" sz="1500" spc="-1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količina</a:t>
            </a:r>
            <a:r>
              <a:rPr lang="hr-HR" sz="1500" spc="-1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podataka</a:t>
            </a:r>
            <a:r>
              <a:rPr lang="hr-HR" sz="1500" spc="-1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20" noProof="0" dirty="0">
                <a:solidFill>
                  <a:srgbClr val="CCCCCC"/>
                </a:solidFill>
                <a:latin typeface="Trebuchet MS"/>
                <a:cs typeface="Trebuchet MS"/>
              </a:rPr>
              <a:t>koju</a:t>
            </a:r>
            <a:endParaRPr lang="hr-HR" sz="1500" noProof="0" dirty="0">
              <a:latin typeface="Trebuchet MS"/>
              <a:cs typeface="Trebuchet MS"/>
            </a:endParaRPr>
          </a:p>
          <a:p>
            <a:pPr marL="12065" marR="5080" algn="ctr">
              <a:lnSpc>
                <a:spcPct val="160000"/>
              </a:lnSpc>
            </a:pPr>
            <a:r>
              <a:rPr lang="hr-HR" sz="1500" spc="-35" noProof="0" dirty="0">
                <a:solidFill>
                  <a:srgbClr val="CCCCCC"/>
                </a:solidFill>
                <a:latin typeface="Trebuchet MS"/>
                <a:cs typeface="Trebuchet MS"/>
              </a:rPr>
              <a:t>memorija</a:t>
            </a:r>
            <a:r>
              <a:rPr lang="hr-HR" sz="1500" spc="-2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može</a:t>
            </a:r>
            <a:r>
              <a:rPr lang="hr-HR" sz="1500" spc="-2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pohraniti,</a:t>
            </a:r>
            <a:r>
              <a:rPr lang="hr-HR" sz="1500" spc="-2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obično izražena</a:t>
            </a:r>
            <a:r>
              <a:rPr lang="hr-HR" sz="1500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 u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gigabajtima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(GB)</a:t>
            </a:r>
            <a:r>
              <a:rPr lang="hr-HR" sz="1500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25" noProof="0" dirty="0">
                <a:solidFill>
                  <a:srgbClr val="CCCCCC"/>
                </a:solidFill>
                <a:latin typeface="Trebuchet MS"/>
                <a:cs typeface="Trebuchet MS"/>
              </a:rPr>
              <a:t>ili </a:t>
            </a:r>
            <a:r>
              <a:rPr lang="hr-HR" sz="1500" spc="-35" noProof="0" dirty="0">
                <a:solidFill>
                  <a:srgbClr val="CCCCCC"/>
                </a:solidFill>
                <a:latin typeface="Trebuchet MS"/>
                <a:cs typeface="Trebuchet MS"/>
              </a:rPr>
              <a:t>terabajtima</a:t>
            </a:r>
            <a:r>
              <a:rPr lang="hr-HR" sz="1500" spc="-2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(TB).</a:t>
            </a:r>
            <a:endParaRPr lang="hr-HR" sz="1500" noProof="0" dirty="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pc="-40" noProof="0" dirty="0"/>
              <a:t>Osnovni</a:t>
            </a:r>
            <a:r>
              <a:rPr lang="hr-HR" spc="-210" noProof="0" dirty="0"/>
              <a:t> </a:t>
            </a:r>
            <a:r>
              <a:rPr lang="hr-HR" spc="-85" noProof="0" dirty="0"/>
              <a:t>Memorijski</a:t>
            </a:r>
            <a:r>
              <a:rPr lang="hr-HR" spc="-204" noProof="0" dirty="0"/>
              <a:t> </a:t>
            </a:r>
            <a:r>
              <a:rPr lang="hr-HR" spc="-114" noProof="0" dirty="0"/>
              <a:t>Pojmovi</a:t>
            </a:r>
          </a:p>
        </p:txBody>
      </p:sp>
      <p:sp>
        <p:nvSpPr>
          <p:cNvPr id="21" name="object 21"/>
          <p:cNvSpPr/>
          <p:nvPr/>
        </p:nvSpPr>
        <p:spPr>
          <a:xfrm>
            <a:off x="390525" y="390525"/>
            <a:ext cx="47625" cy="552450"/>
          </a:xfrm>
          <a:custGeom>
            <a:avLst/>
            <a:gdLst/>
            <a:ahLst/>
            <a:cxnLst/>
            <a:rect l="l" t="t" r="r" b="b"/>
            <a:pathLst>
              <a:path w="47625" h="552450">
                <a:moveTo>
                  <a:pt x="47624" y="552449"/>
                </a:moveTo>
                <a:lnTo>
                  <a:pt x="0" y="552449"/>
                </a:lnTo>
                <a:lnTo>
                  <a:pt x="0" y="0"/>
                </a:lnTo>
                <a:lnTo>
                  <a:pt x="47624" y="0"/>
                </a:lnTo>
                <a:lnTo>
                  <a:pt x="47624" y="552449"/>
                </a:lnTo>
                <a:close/>
              </a:path>
            </a:pathLst>
          </a:custGeom>
          <a:solidFill>
            <a:srgbClr val="00FF88"/>
          </a:solidFill>
        </p:spPr>
        <p:txBody>
          <a:bodyPr wrap="square" lIns="0" tIns="0" rIns="0" bIns="0" rtlCol="0"/>
          <a:lstStyle/>
          <a:p>
            <a:endParaRPr lang="hr-HR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525" y="2319337"/>
            <a:ext cx="5419724" cy="3152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81750" y="2319337"/>
            <a:ext cx="5419724" cy="31527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68350" y="2686494"/>
            <a:ext cx="4455160" cy="1876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z="2100" b="1" spc="-70" noProof="0" dirty="0">
                <a:solidFill>
                  <a:srgbClr val="00FF88"/>
                </a:solidFill>
                <a:latin typeface="Trebuchet MS"/>
                <a:cs typeface="Trebuchet MS"/>
              </a:rPr>
              <a:t>Vrijeme</a:t>
            </a:r>
            <a:r>
              <a:rPr lang="hr-HR" sz="2100" b="1" spc="-100" noProof="0" dirty="0">
                <a:solidFill>
                  <a:srgbClr val="00FF88"/>
                </a:solidFill>
                <a:latin typeface="Trebuchet MS"/>
                <a:cs typeface="Trebuchet MS"/>
              </a:rPr>
              <a:t> </a:t>
            </a:r>
            <a:r>
              <a:rPr lang="hr-HR" sz="2100" b="1" spc="-10" noProof="0" dirty="0">
                <a:solidFill>
                  <a:srgbClr val="00FF88"/>
                </a:solidFill>
                <a:latin typeface="Trebuchet MS"/>
                <a:cs typeface="Trebuchet MS"/>
              </a:rPr>
              <a:t>Pristupa</a:t>
            </a:r>
            <a:endParaRPr lang="hr-HR" sz="2100" noProof="0" dirty="0">
              <a:latin typeface="Trebuchet MS"/>
              <a:cs typeface="Trebuchet MS"/>
            </a:endParaRPr>
          </a:p>
          <a:p>
            <a:pPr marL="12700" marR="5080">
              <a:lnSpc>
                <a:spcPct val="160000"/>
              </a:lnSpc>
              <a:spcBef>
                <a:spcPts val="470"/>
              </a:spcBef>
            </a:pPr>
            <a:r>
              <a:rPr lang="hr-HR" sz="1500" spc="-20" noProof="0" dirty="0">
                <a:solidFill>
                  <a:srgbClr val="CCCCCC"/>
                </a:solidFill>
                <a:latin typeface="Trebuchet MS"/>
                <a:cs typeface="Trebuchet MS"/>
              </a:rPr>
              <a:t>Vremenski</a:t>
            </a:r>
            <a:r>
              <a:rPr lang="hr-HR" sz="1500" spc="-4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interval</a:t>
            </a:r>
            <a:r>
              <a:rPr lang="hr-HR" sz="1500" spc="-4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od</a:t>
            </a:r>
            <a:r>
              <a:rPr lang="hr-HR" sz="1500" spc="-4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50" noProof="0" dirty="0">
                <a:solidFill>
                  <a:srgbClr val="CCCCCC"/>
                </a:solidFill>
                <a:latin typeface="Trebuchet MS"/>
                <a:cs typeface="Trebuchet MS"/>
              </a:rPr>
              <a:t>trenutka</a:t>
            </a:r>
            <a:r>
              <a:rPr lang="hr-HR" sz="1500" spc="-4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kada</a:t>
            </a:r>
            <a:r>
              <a:rPr lang="hr-HR" sz="1500" spc="-4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procesor</a:t>
            </a:r>
            <a:r>
              <a:rPr lang="hr-HR" sz="1500" spc="-4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pošalje </a:t>
            </a:r>
            <a:r>
              <a:rPr lang="hr-HR" sz="1500" spc="-35" noProof="0" dirty="0">
                <a:solidFill>
                  <a:srgbClr val="CCCCCC"/>
                </a:solidFill>
                <a:latin typeface="Trebuchet MS"/>
                <a:cs typeface="Trebuchet MS"/>
              </a:rPr>
              <a:t>zahtjev</a:t>
            </a:r>
            <a:r>
              <a:rPr lang="hr-HR" sz="1500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55" noProof="0" dirty="0">
                <a:solidFill>
                  <a:srgbClr val="CCCCCC"/>
                </a:solidFill>
                <a:latin typeface="Trebuchet MS"/>
                <a:cs typeface="Trebuchet MS"/>
              </a:rPr>
              <a:t>za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45" noProof="0" dirty="0">
                <a:solidFill>
                  <a:srgbClr val="CCCCCC"/>
                </a:solidFill>
                <a:latin typeface="Trebuchet MS"/>
                <a:cs typeface="Trebuchet MS"/>
              </a:rPr>
              <a:t>čitanjem</a:t>
            </a:r>
            <a:r>
              <a:rPr lang="hr-HR" sz="1500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45" noProof="0" dirty="0">
                <a:solidFill>
                  <a:srgbClr val="CCCCCC"/>
                </a:solidFill>
                <a:latin typeface="Trebuchet MS"/>
                <a:cs typeface="Trebuchet MS"/>
              </a:rPr>
              <a:t>ili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25" noProof="0" dirty="0">
                <a:solidFill>
                  <a:srgbClr val="CCCCCC"/>
                </a:solidFill>
                <a:latin typeface="Trebuchet MS"/>
                <a:cs typeface="Trebuchet MS"/>
              </a:rPr>
              <a:t>pisanjem</a:t>
            </a:r>
            <a:r>
              <a:rPr lang="hr-HR" sz="1500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do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50" noProof="0" dirty="0">
                <a:solidFill>
                  <a:srgbClr val="CCCCCC"/>
                </a:solidFill>
                <a:latin typeface="Trebuchet MS"/>
                <a:cs typeface="Trebuchet MS"/>
              </a:rPr>
              <a:t>trenutka</a:t>
            </a:r>
            <a:r>
              <a:rPr lang="hr-HR" sz="1500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20" noProof="0" dirty="0">
                <a:solidFill>
                  <a:srgbClr val="CCCCCC"/>
                </a:solidFill>
                <a:latin typeface="Trebuchet MS"/>
                <a:cs typeface="Trebuchet MS"/>
              </a:rPr>
              <a:t>kada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podatak</a:t>
            </a:r>
            <a:r>
              <a:rPr lang="hr-HR" sz="1500" spc="-3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postane</a:t>
            </a:r>
            <a:r>
              <a:rPr lang="hr-HR" sz="1500" spc="-2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dostupan</a:t>
            </a:r>
            <a:r>
              <a:rPr lang="hr-HR" sz="1500" spc="-2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30" noProof="0" dirty="0">
                <a:solidFill>
                  <a:srgbClr val="CCCCCC"/>
                </a:solidFill>
                <a:latin typeface="Trebuchet MS"/>
                <a:cs typeface="Trebuchet MS"/>
              </a:rPr>
              <a:t>(ili</a:t>
            </a:r>
            <a:r>
              <a:rPr lang="hr-HR" sz="1500" spc="-2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upisan).</a:t>
            </a:r>
            <a:endParaRPr lang="hr-HR" sz="1500" noProof="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lang="hr-HR" sz="1500" b="1" spc="-10" noProof="0" dirty="0">
                <a:solidFill>
                  <a:srgbClr val="00FF88"/>
                </a:solidFill>
                <a:latin typeface="Trebuchet MS"/>
                <a:cs typeface="Trebuchet MS"/>
              </a:rPr>
              <a:t>Mjerna</a:t>
            </a:r>
            <a:r>
              <a:rPr lang="hr-HR" sz="1500" b="1" spc="-40" noProof="0" dirty="0">
                <a:solidFill>
                  <a:srgbClr val="00FF88"/>
                </a:solidFill>
                <a:latin typeface="Trebuchet MS"/>
                <a:cs typeface="Trebuchet MS"/>
              </a:rPr>
              <a:t> </a:t>
            </a:r>
            <a:r>
              <a:rPr lang="hr-HR" sz="1500" b="1" spc="-75" noProof="0" dirty="0">
                <a:solidFill>
                  <a:srgbClr val="00FF88"/>
                </a:solidFill>
                <a:latin typeface="Trebuchet MS"/>
                <a:cs typeface="Trebuchet MS"/>
              </a:rPr>
              <a:t>jedinica:</a:t>
            </a:r>
            <a:r>
              <a:rPr lang="hr-HR" sz="1500" b="1" spc="-40" noProof="0" dirty="0">
                <a:solidFill>
                  <a:srgbClr val="00FF88"/>
                </a:solidFill>
                <a:latin typeface="Trebuchet MS"/>
                <a:cs typeface="Trebuchet MS"/>
              </a:rPr>
              <a:t> </a:t>
            </a:r>
            <a:r>
              <a:rPr lang="hr-HR" sz="1500" b="1" spc="-35" noProof="0" dirty="0" err="1">
                <a:solidFill>
                  <a:srgbClr val="00FF88"/>
                </a:solidFill>
                <a:latin typeface="Trebuchet MS"/>
                <a:cs typeface="Trebuchet MS"/>
              </a:rPr>
              <a:t>Nanosekunde</a:t>
            </a:r>
            <a:r>
              <a:rPr lang="hr-HR" sz="1500" b="1" spc="-35" noProof="0" dirty="0">
                <a:solidFill>
                  <a:srgbClr val="00FF88"/>
                </a:solidFill>
                <a:latin typeface="Trebuchet MS"/>
                <a:cs typeface="Trebuchet MS"/>
              </a:rPr>
              <a:t> </a:t>
            </a:r>
            <a:r>
              <a:rPr lang="hr-HR" sz="1500" b="1" spc="-20" noProof="0" dirty="0">
                <a:solidFill>
                  <a:srgbClr val="00FF88"/>
                </a:solidFill>
                <a:latin typeface="Trebuchet MS"/>
                <a:cs typeface="Trebuchet MS"/>
              </a:rPr>
              <a:t>(</a:t>
            </a:r>
            <a:r>
              <a:rPr lang="hr-HR" sz="1500" b="1" spc="-20" noProof="0" dirty="0" err="1">
                <a:solidFill>
                  <a:srgbClr val="00FF88"/>
                </a:solidFill>
                <a:latin typeface="Trebuchet MS"/>
                <a:cs typeface="Trebuchet MS"/>
              </a:rPr>
              <a:t>ns</a:t>
            </a:r>
            <a:r>
              <a:rPr lang="hr-HR" sz="1500" b="1" spc="-20" noProof="0" dirty="0">
                <a:solidFill>
                  <a:srgbClr val="00FF88"/>
                </a:solidFill>
                <a:latin typeface="Trebuchet MS"/>
                <a:cs typeface="Trebuchet MS"/>
              </a:rPr>
              <a:t>)</a:t>
            </a:r>
            <a:endParaRPr lang="hr-HR" sz="1500" noProof="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59575" y="2686494"/>
            <a:ext cx="4067810" cy="2181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z="2100" b="1" spc="-55" noProof="0" dirty="0">
                <a:solidFill>
                  <a:srgbClr val="00FF88"/>
                </a:solidFill>
                <a:latin typeface="Trebuchet MS"/>
                <a:cs typeface="Trebuchet MS"/>
              </a:rPr>
              <a:t>Memorijski</a:t>
            </a:r>
            <a:r>
              <a:rPr lang="hr-HR" sz="2100" b="1" spc="-70" noProof="0" dirty="0">
                <a:solidFill>
                  <a:srgbClr val="00FF88"/>
                </a:solidFill>
                <a:latin typeface="Trebuchet MS"/>
                <a:cs typeface="Trebuchet MS"/>
              </a:rPr>
              <a:t> </a:t>
            </a:r>
            <a:r>
              <a:rPr lang="hr-HR" sz="2100" b="1" spc="-10" noProof="0" dirty="0">
                <a:solidFill>
                  <a:srgbClr val="00FF88"/>
                </a:solidFill>
                <a:latin typeface="Trebuchet MS"/>
                <a:cs typeface="Trebuchet MS"/>
              </a:rPr>
              <a:t>Ciklus</a:t>
            </a:r>
            <a:endParaRPr lang="hr-HR" sz="2100" noProof="0" dirty="0">
              <a:latin typeface="Trebuchet MS"/>
              <a:cs typeface="Trebuchet MS"/>
            </a:endParaRPr>
          </a:p>
          <a:p>
            <a:pPr marL="12700" marR="5080">
              <a:lnSpc>
                <a:spcPct val="160000"/>
              </a:lnSpc>
              <a:spcBef>
                <a:spcPts val="470"/>
              </a:spcBef>
            </a:pP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Minimalno</a:t>
            </a:r>
            <a:r>
              <a:rPr lang="hr-HR" sz="1500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vrijeme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koje</a:t>
            </a:r>
            <a:r>
              <a:rPr lang="hr-HR" sz="1500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mora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45" noProof="0" dirty="0">
                <a:solidFill>
                  <a:srgbClr val="CCCCCC"/>
                </a:solidFill>
                <a:latin typeface="Trebuchet MS"/>
                <a:cs typeface="Trebuchet MS"/>
              </a:rPr>
              <a:t>proteći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25" noProof="0" dirty="0">
                <a:solidFill>
                  <a:srgbClr val="CCCCCC"/>
                </a:solidFill>
                <a:latin typeface="Trebuchet MS"/>
                <a:cs typeface="Trebuchet MS"/>
              </a:rPr>
              <a:t>izme</a:t>
            </a:r>
            <a:r>
              <a:rPr lang="hr-HR" sz="1500" spc="-25" noProof="0" dirty="0">
                <a:solidFill>
                  <a:srgbClr val="CCCCCC"/>
                </a:solidFill>
                <a:latin typeface="Microsoft Sans Serif"/>
                <a:cs typeface="Microsoft Sans Serif"/>
              </a:rPr>
              <a:t>đ</a:t>
            </a:r>
            <a:r>
              <a:rPr lang="hr-HR" sz="1500" spc="-25" noProof="0" dirty="0">
                <a:solidFill>
                  <a:srgbClr val="CCCCCC"/>
                </a:solidFill>
                <a:latin typeface="Trebuchet MS"/>
                <a:cs typeface="Trebuchet MS"/>
              </a:rPr>
              <a:t>u</a:t>
            </a:r>
            <a:r>
              <a:rPr lang="hr-HR" sz="1500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25" noProof="0" dirty="0">
                <a:solidFill>
                  <a:srgbClr val="CCCCCC"/>
                </a:solidFill>
                <a:latin typeface="Trebuchet MS"/>
                <a:cs typeface="Trebuchet MS"/>
              </a:rPr>
              <a:t>dva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uzastopna</a:t>
            </a:r>
            <a:r>
              <a:rPr lang="hr-HR" sz="1500" spc="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25" noProof="0" dirty="0">
                <a:solidFill>
                  <a:srgbClr val="CCCCCC"/>
                </a:solidFill>
                <a:latin typeface="Trebuchet MS"/>
                <a:cs typeface="Trebuchet MS"/>
              </a:rPr>
              <a:t>pristupa</a:t>
            </a:r>
            <a:r>
              <a:rPr lang="hr-HR" sz="1500" spc="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85" noProof="0" dirty="0">
                <a:solidFill>
                  <a:srgbClr val="CCCCCC"/>
                </a:solidFill>
                <a:latin typeface="Trebuchet MS"/>
                <a:cs typeface="Trebuchet MS"/>
              </a:rPr>
              <a:t>memoriji.</a:t>
            </a:r>
            <a:r>
              <a:rPr lang="hr-HR" sz="1500" spc="1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Obuhvaća</a:t>
            </a:r>
            <a:r>
              <a:rPr lang="hr-HR" sz="1500" spc="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vrijeme </a:t>
            </a:r>
            <a:r>
              <a:rPr lang="hr-HR" sz="1500" spc="-25" noProof="0" dirty="0">
                <a:solidFill>
                  <a:srgbClr val="CCCCCC"/>
                </a:solidFill>
                <a:latin typeface="Trebuchet MS"/>
                <a:cs typeface="Trebuchet MS"/>
              </a:rPr>
              <a:t>pristupa</a:t>
            </a:r>
            <a:r>
              <a:rPr lang="hr-HR" sz="1500" spc="-7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40" noProof="0" dirty="0">
                <a:solidFill>
                  <a:srgbClr val="CCCCCC"/>
                </a:solidFill>
                <a:latin typeface="Trebuchet MS"/>
                <a:cs typeface="Trebuchet MS"/>
              </a:rPr>
              <a:t>plus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vrijeme</a:t>
            </a:r>
            <a:r>
              <a:rPr lang="hr-HR" sz="1500" spc="-7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potrebno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60" noProof="0" dirty="0">
                <a:solidFill>
                  <a:srgbClr val="CCCCCC"/>
                </a:solidFill>
                <a:latin typeface="Trebuchet MS"/>
                <a:cs typeface="Trebuchet MS"/>
              </a:rPr>
              <a:t>da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se</a:t>
            </a:r>
            <a:r>
              <a:rPr lang="hr-HR" sz="1500" spc="-7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memorija </a:t>
            </a:r>
            <a:r>
              <a:rPr lang="hr-HR" sz="1500" spc="-35" noProof="0" dirty="0">
                <a:solidFill>
                  <a:srgbClr val="CCCCCC"/>
                </a:solidFill>
                <a:latin typeface="Trebuchet MS"/>
                <a:cs typeface="Trebuchet MS"/>
              </a:rPr>
              <a:t>"oporavi"</a:t>
            </a:r>
            <a:r>
              <a:rPr lang="hr-HR" sz="1500" spc="-8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55" noProof="0" dirty="0">
                <a:solidFill>
                  <a:srgbClr val="CCCCCC"/>
                </a:solidFill>
                <a:latin typeface="Trebuchet MS"/>
                <a:cs typeface="Trebuchet MS"/>
              </a:rPr>
              <a:t>za</a:t>
            </a:r>
            <a:r>
              <a:rPr lang="hr-HR" sz="1500" spc="-7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45" noProof="0" dirty="0">
                <a:solidFill>
                  <a:srgbClr val="CCCCCC"/>
                </a:solidFill>
                <a:latin typeface="Trebuchet MS"/>
                <a:cs typeface="Trebuchet MS"/>
              </a:rPr>
              <a:t>novi</a:t>
            </a:r>
            <a:r>
              <a:rPr lang="hr-HR" sz="1500" spc="-7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zahtjev.</a:t>
            </a:r>
            <a:endParaRPr lang="hr-HR" sz="1500" noProof="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lang="hr-HR" sz="1500" b="1" spc="-35" noProof="0" dirty="0" err="1">
                <a:solidFill>
                  <a:srgbClr val="00B8FF"/>
                </a:solidFill>
                <a:latin typeface="Trebuchet MS"/>
                <a:cs typeface="Trebuchet MS"/>
              </a:rPr>
              <a:t>T_ciklus</a:t>
            </a:r>
            <a:r>
              <a:rPr lang="hr-HR" sz="1500" b="1" spc="-90" noProof="0" dirty="0">
                <a:solidFill>
                  <a:srgbClr val="00B8FF"/>
                </a:solidFill>
                <a:latin typeface="Trebuchet MS"/>
                <a:cs typeface="Trebuchet MS"/>
              </a:rPr>
              <a:t> </a:t>
            </a:r>
            <a:r>
              <a:rPr lang="hr-HR" sz="1500" b="1" noProof="0" dirty="0">
                <a:solidFill>
                  <a:srgbClr val="00B8FF"/>
                </a:solidFill>
                <a:latin typeface="Trebuchet MS"/>
                <a:cs typeface="Trebuchet MS"/>
              </a:rPr>
              <a:t>&gt;</a:t>
            </a:r>
            <a:r>
              <a:rPr lang="hr-HR" sz="1500" b="1" spc="-85" noProof="0" dirty="0">
                <a:solidFill>
                  <a:srgbClr val="00B8FF"/>
                </a:solidFill>
                <a:latin typeface="Trebuchet MS"/>
                <a:cs typeface="Trebuchet MS"/>
              </a:rPr>
              <a:t> </a:t>
            </a:r>
            <a:r>
              <a:rPr lang="hr-HR" sz="1500" b="1" spc="-10" noProof="0" dirty="0" err="1">
                <a:solidFill>
                  <a:srgbClr val="00B8FF"/>
                </a:solidFill>
                <a:latin typeface="Trebuchet MS"/>
                <a:cs typeface="Trebuchet MS"/>
              </a:rPr>
              <a:t>T_pristup</a:t>
            </a:r>
            <a:endParaRPr lang="hr-HR" sz="1500" noProof="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pc="-70" noProof="0" dirty="0"/>
              <a:t>Performanse</a:t>
            </a:r>
            <a:r>
              <a:rPr lang="hr-HR" spc="-204" noProof="0" dirty="0"/>
              <a:t> </a:t>
            </a:r>
            <a:r>
              <a:rPr lang="hr-HR" spc="-60" noProof="0" dirty="0"/>
              <a:t>Memorije</a:t>
            </a:r>
          </a:p>
        </p:txBody>
      </p:sp>
      <p:sp>
        <p:nvSpPr>
          <p:cNvPr id="8" name="object 8"/>
          <p:cNvSpPr/>
          <p:nvPr/>
        </p:nvSpPr>
        <p:spPr>
          <a:xfrm>
            <a:off x="390525" y="390525"/>
            <a:ext cx="47625" cy="552450"/>
          </a:xfrm>
          <a:custGeom>
            <a:avLst/>
            <a:gdLst/>
            <a:ahLst/>
            <a:cxnLst/>
            <a:rect l="l" t="t" r="r" b="b"/>
            <a:pathLst>
              <a:path w="47625" h="552450">
                <a:moveTo>
                  <a:pt x="47624" y="552449"/>
                </a:moveTo>
                <a:lnTo>
                  <a:pt x="0" y="552449"/>
                </a:lnTo>
                <a:lnTo>
                  <a:pt x="0" y="0"/>
                </a:lnTo>
                <a:lnTo>
                  <a:pt x="47624" y="0"/>
                </a:lnTo>
                <a:lnTo>
                  <a:pt x="47624" y="552449"/>
                </a:lnTo>
                <a:close/>
              </a:path>
            </a:pathLst>
          </a:custGeom>
          <a:solidFill>
            <a:srgbClr val="00FF88"/>
          </a:solidFill>
        </p:spPr>
        <p:txBody>
          <a:bodyPr wrap="square" lIns="0" tIns="0" rIns="0" bIns="0" rtlCol="0"/>
          <a:lstStyle/>
          <a:p>
            <a:endParaRPr lang="hr-HR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avokutnik 9">
            <a:extLst>
              <a:ext uri="{FF2B5EF4-FFF2-40B4-BE49-F238E27FC236}">
                <a16:creationId xmlns:a16="http://schemas.microsoft.com/office/drawing/2014/main" id="{C8EE03B4-DFFD-B1CE-E5E8-8A3D9583EEE6}"/>
              </a:ext>
            </a:extLst>
          </p:cNvPr>
          <p:cNvSpPr/>
          <p:nvPr/>
        </p:nvSpPr>
        <p:spPr>
          <a:xfrm>
            <a:off x="6400800" y="1981200"/>
            <a:ext cx="5376545" cy="381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2" name="object 2"/>
          <p:cNvPicPr/>
          <p:nvPr/>
        </p:nvPicPr>
        <p:blipFill>
          <a:blip r:embed="rId2" cstate="print">
            <a:alphaModFix/>
          </a:blip>
          <a:stretch>
            <a:fillRect/>
          </a:stretch>
        </p:blipFill>
        <p:spPr>
          <a:xfrm>
            <a:off x="6381750" y="1990725"/>
            <a:ext cx="5419724" cy="3809999"/>
          </a:xfrm>
          <a:prstGeom prst="rect">
            <a:avLst/>
          </a:prstGeom>
          <a:effectLst/>
        </p:spPr>
      </p:pic>
      <p:sp>
        <p:nvSpPr>
          <p:cNvPr id="3" name="object 3"/>
          <p:cNvSpPr txBox="1"/>
          <p:nvPr/>
        </p:nvSpPr>
        <p:spPr>
          <a:xfrm>
            <a:off x="377825" y="2432367"/>
            <a:ext cx="5376545" cy="2844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100"/>
              </a:spcBef>
            </a:pPr>
            <a:r>
              <a:rPr lang="hr-HR" sz="1500" b="1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Registri:</a:t>
            </a:r>
            <a:r>
              <a:rPr lang="hr-HR" sz="1500" b="1" spc="-4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Najbrža</a:t>
            </a:r>
            <a:r>
              <a:rPr lang="hr-HR" sz="1500" spc="-4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35" noProof="0" dirty="0">
                <a:solidFill>
                  <a:srgbClr val="CCCCCC"/>
                </a:solidFill>
                <a:latin typeface="Trebuchet MS"/>
                <a:cs typeface="Trebuchet MS"/>
              </a:rPr>
              <a:t>memorija</a:t>
            </a:r>
            <a:r>
              <a:rPr lang="hr-HR" sz="1500" spc="-4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40" noProof="0" dirty="0">
                <a:solidFill>
                  <a:srgbClr val="CCCCCC"/>
                </a:solidFill>
                <a:latin typeface="Trebuchet MS"/>
                <a:cs typeface="Trebuchet MS"/>
              </a:rPr>
              <a:t>unutar</a:t>
            </a:r>
            <a:r>
              <a:rPr lang="hr-HR" sz="1500" spc="-4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CPU-</a:t>
            </a:r>
            <a:r>
              <a:rPr lang="hr-HR" sz="1500" spc="-25" noProof="0" dirty="0">
                <a:solidFill>
                  <a:srgbClr val="CCCCCC"/>
                </a:solidFill>
                <a:latin typeface="Trebuchet MS"/>
                <a:cs typeface="Trebuchet MS"/>
              </a:rPr>
              <a:t>a.</a:t>
            </a:r>
            <a:endParaRPr lang="hr-HR" sz="1500" noProof="0" dirty="0">
              <a:latin typeface="Trebuchet MS"/>
              <a:cs typeface="Trebuchet MS"/>
            </a:endParaRPr>
          </a:p>
          <a:p>
            <a:pPr marL="298450" marR="386715">
              <a:lnSpc>
                <a:spcPct val="160000"/>
              </a:lnSpc>
              <a:spcBef>
                <a:spcPts val="1019"/>
              </a:spcBef>
            </a:pPr>
            <a:r>
              <a:rPr lang="hr-HR" sz="1500" b="1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Priručna </a:t>
            </a:r>
            <a:r>
              <a:rPr lang="hr-HR" sz="1500" b="1" spc="-45" noProof="0" dirty="0">
                <a:solidFill>
                  <a:srgbClr val="CCCCCC"/>
                </a:solidFill>
                <a:latin typeface="Trebuchet MS"/>
                <a:cs typeface="Trebuchet MS"/>
              </a:rPr>
              <a:t>memorija</a:t>
            </a:r>
            <a:r>
              <a:rPr lang="hr-HR" sz="1500" b="1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b="1" spc="-25" noProof="0" dirty="0">
                <a:solidFill>
                  <a:srgbClr val="CCCCCC"/>
                </a:solidFill>
                <a:latin typeface="Trebuchet MS"/>
                <a:cs typeface="Trebuchet MS"/>
              </a:rPr>
              <a:t>(</a:t>
            </a:r>
            <a:r>
              <a:rPr lang="hr-HR" sz="1500" b="1" spc="-25" noProof="0" dirty="0" err="1">
                <a:solidFill>
                  <a:srgbClr val="CCCCCC"/>
                </a:solidFill>
                <a:latin typeface="Trebuchet MS"/>
                <a:cs typeface="Trebuchet MS"/>
              </a:rPr>
              <a:t>Cache</a:t>
            </a:r>
            <a:r>
              <a:rPr lang="hr-HR" sz="1500" b="1" spc="-25" noProof="0" dirty="0">
                <a:solidFill>
                  <a:srgbClr val="CCCCCC"/>
                </a:solidFill>
                <a:latin typeface="Trebuchet MS"/>
                <a:cs typeface="Trebuchet MS"/>
              </a:rPr>
              <a:t>):</a:t>
            </a:r>
            <a:r>
              <a:rPr lang="hr-HR" sz="1500" b="1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Brza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35" noProof="0" dirty="0">
                <a:solidFill>
                  <a:srgbClr val="CCCCCC"/>
                </a:solidFill>
                <a:latin typeface="Trebuchet MS"/>
                <a:cs typeface="Trebuchet MS"/>
              </a:rPr>
              <a:t>memorija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50" noProof="0" dirty="0">
                <a:solidFill>
                  <a:srgbClr val="CCCCCC"/>
                </a:solidFill>
                <a:latin typeface="Trebuchet MS"/>
                <a:cs typeface="Trebuchet MS"/>
              </a:rPr>
              <a:t>(SRAM)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20" noProof="0" dirty="0">
                <a:solidFill>
                  <a:srgbClr val="CCCCCC"/>
                </a:solidFill>
                <a:latin typeface="Trebuchet MS"/>
                <a:cs typeface="Trebuchet MS"/>
              </a:rPr>
              <a:t>koja </a:t>
            </a:r>
            <a:r>
              <a:rPr lang="hr-HR" sz="1500" spc="-25" noProof="0" dirty="0">
                <a:solidFill>
                  <a:srgbClr val="CCCCCC"/>
                </a:solidFill>
                <a:latin typeface="Trebuchet MS"/>
                <a:cs typeface="Trebuchet MS"/>
              </a:rPr>
              <a:t>premošćuje</a:t>
            </a:r>
            <a:r>
              <a:rPr lang="hr-HR" sz="1500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40" noProof="0" dirty="0">
                <a:solidFill>
                  <a:srgbClr val="CCCCCC"/>
                </a:solidFill>
                <a:latin typeface="Trebuchet MS"/>
                <a:cs typeface="Trebuchet MS"/>
              </a:rPr>
              <a:t>jaz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20" noProof="0" dirty="0">
                <a:solidFill>
                  <a:srgbClr val="CCCCCC"/>
                </a:solidFill>
                <a:latin typeface="Trebuchet MS"/>
                <a:cs typeface="Trebuchet MS"/>
              </a:rPr>
              <a:t>izme</a:t>
            </a:r>
            <a:r>
              <a:rPr lang="hr-HR" sz="1500" spc="-20" noProof="0" dirty="0">
                <a:solidFill>
                  <a:srgbClr val="CCCCCC"/>
                </a:solidFill>
                <a:latin typeface="Microsoft Sans Serif"/>
                <a:cs typeface="Microsoft Sans Serif"/>
              </a:rPr>
              <a:t>đ</a:t>
            </a:r>
            <a:r>
              <a:rPr lang="hr-HR" sz="1500" spc="-20" noProof="0" dirty="0">
                <a:solidFill>
                  <a:srgbClr val="CCCCCC"/>
                </a:solidFill>
                <a:latin typeface="Trebuchet MS"/>
                <a:cs typeface="Trebuchet MS"/>
              </a:rPr>
              <a:t>u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65" noProof="0" dirty="0">
                <a:solidFill>
                  <a:srgbClr val="CCCCCC"/>
                </a:solidFill>
                <a:latin typeface="Trebuchet MS"/>
                <a:cs typeface="Trebuchet MS"/>
              </a:rPr>
              <a:t>CPU-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a</a:t>
            </a:r>
            <a:r>
              <a:rPr lang="hr-HR" sz="1500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50" noProof="0" dirty="0">
                <a:solidFill>
                  <a:srgbClr val="CCCCCC"/>
                </a:solidFill>
                <a:latin typeface="Trebuchet MS"/>
                <a:cs typeface="Trebuchet MS"/>
              </a:rPr>
              <a:t>i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50" noProof="0" dirty="0">
                <a:solidFill>
                  <a:srgbClr val="CCCCCC"/>
                </a:solidFill>
                <a:latin typeface="Trebuchet MS"/>
                <a:cs typeface="Trebuchet MS"/>
              </a:rPr>
              <a:t>RAM-</a:t>
            </a:r>
            <a:r>
              <a:rPr lang="hr-HR" sz="1500" spc="-25" noProof="0" dirty="0">
                <a:solidFill>
                  <a:srgbClr val="CCCCCC"/>
                </a:solidFill>
                <a:latin typeface="Trebuchet MS"/>
                <a:cs typeface="Trebuchet MS"/>
              </a:rPr>
              <a:t>a.</a:t>
            </a:r>
            <a:endParaRPr lang="hr-HR" sz="1500" noProof="0" dirty="0">
              <a:latin typeface="Trebuchet MS"/>
              <a:cs typeface="Trebuchet MS"/>
            </a:endParaRPr>
          </a:p>
          <a:p>
            <a:pPr marL="298450">
              <a:lnSpc>
                <a:spcPct val="100000"/>
              </a:lnSpc>
              <a:spcBef>
                <a:spcPts val="1620"/>
              </a:spcBef>
            </a:pPr>
            <a:r>
              <a:rPr lang="hr-HR" sz="1500" b="1" noProof="0" dirty="0">
                <a:solidFill>
                  <a:srgbClr val="CCCCCC"/>
                </a:solidFill>
                <a:latin typeface="Trebuchet MS"/>
                <a:cs typeface="Trebuchet MS"/>
              </a:rPr>
              <a:t>Glavna</a:t>
            </a:r>
            <a:r>
              <a:rPr lang="hr-HR" sz="1500" b="1" spc="-1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b="1" spc="-45" noProof="0" dirty="0">
                <a:solidFill>
                  <a:srgbClr val="CCCCCC"/>
                </a:solidFill>
                <a:latin typeface="Trebuchet MS"/>
                <a:cs typeface="Trebuchet MS"/>
              </a:rPr>
              <a:t>memorija</a:t>
            </a:r>
            <a:r>
              <a:rPr lang="hr-HR" sz="1500" b="1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b="1" noProof="0" dirty="0">
                <a:solidFill>
                  <a:srgbClr val="CCCCCC"/>
                </a:solidFill>
                <a:latin typeface="Trebuchet MS"/>
                <a:cs typeface="Trebuchet MS"/>
              </a:rPr>
              <a:t>(RAM):</a:t>
            </a:r>
            <a:r>
              <a:rPr lang="hr-HR" sz="1500" b="1" spc="-2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Radna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35" noProof="0" dirty="0">
                <a:solidFill>
                  <a:srgbClr val="CCCCCC"/>
                </a:solidFill>
                <a:latin typeface="Trebuchet MS"/>
                <a:cs typeface="Trebuchet MS"/>
              </a:rPr>
              <a:t>memorija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sustava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 (DRAM).</a:t>
            </a:r>
            <a:endParaRPr lang="hr-HR" sz="1500" noProof="0" dirty="0">
              <a:latin typeface="Trebuchet MS"/>
              <a:cs typeface="Trebuchet MS"/>
            </a:endParaRPr>
          </a:p>
          <a:p>
            <a:pPr marL="298450" marR="5080">
              <a:lnSpc>
                <a:spcPct val="160000"/>
              </a:lnSpc>
              <a:spcBef>
                <a:spcPts val="1019"/>
              </a:spcBef>
            </a:pPr>
            <a:r>
              <a:rPr lang="hr-HR" sz="1500" b="1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Sekundarna</a:t>
            </a:r>
            <a:r>
              <a:rPr lang="hr-HR" sz="1500" b="1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b="1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memorija:</a:t>
            </a:r>
            <a:r>
              <a:rPr lang="hr-HR" sz="1500" b="1" spc="-7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40" noProof="0" dirty="0">
                <a:solidFill>
                  <a:srgbClr val="CCCCCC"/>
                </a:solidFill>
                <a:latin typeface="Trebuchet MS"/>
                <a:cs typeface="Trebuchet MS"/>
              </a:rPr>
              <a:t>Diskovi</a:t>
            </a:r>
            <a:r>
              <a:rPr lang="hr-HR" sz="1500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(HDD,</a:t>
            </a:r>
            <a:r>
              <a:rPr lang="hr-HR" sz="1500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90" noProof="0" dirty="0">
                <a:solidFill>
                  <a:srgbClr val="CCCCCC"/>
                </a:solidFill>
                <a:latin typeface="Trebuchet MS"/>
                <a:cs typeface="Trebuchet MS"/>
              </a:rPr>
              <a:t>SSD)</a:t>
            </a:r>
            <a:r>
              <a:rPr lang="hr-HR" sz="1500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55" noProof="0" dirty="0">
                <a:solidFill>
                  <a:srgbClr val="CCCCCC"/>
                </a:solidFill>
                <a:latin typeface="Trebuchet MS"/>
                <a:cs typeface="Trebuchet MS"/>
              </a:rPr>
              <a:t>za</a:t>
            </a:r>
            <a:r>
              <a:rPr lang="hr-HR" sz="1500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75" noProof="0" dirty="0">
                <a:solidFill>
                  <a:srgbClr val="CCCCCC"/>
                </a:solidFill>
                <a:latin typeface="Trebuchet MS"/>
                <a:cs typeface="Trebuchet MS"/>
              </a:rPr>
              <a:t>trajnu</a:t>
            </a:r>
            <a:r>
              <a:rPr lang="hr-HR" sz="1500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pohranu </a:t>
            </a:r>
            <a:r>
              <a:rPr lang="hr-HR" sz="1500" spc="-40" noProof="0" dirty="0">
                <a:solidFill>
                  <a:srgbClr val="CCCCCC"/>
                </a:solidFill>
                <a:latin typeface="Trebuchet MS"/>
                <a:cs typeface="Trebuchet MS"/>
              </a:rPr>
              <a:t>velikog</a:t>
            </a:r>
            <a:r>
              <a:rPr lang="hr-HR" sz="1500" spc="-5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kapaciteta.</a:t>
            </a:r>
            <a:endParaRPr lang="hr-HR" sz="1500" noProof="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lang="hr-HR" sz="1500" i="1" noProof="0" dirty="0">
                <a:solidFill>
                  <a:srgbClr val="888888"/>
                </a:solidFill>
                <a:latin typeface="Trebuchet MS"/>
                <a:cs typeface="Trebuchet MS"/>
              </a:rPr>
              <a:t>Što</a:t>
            </a:r>
            <a:r>
              <a:rPr lang="hr-HR" sz="1500" i="1" spc="-65" noProof="0" dirty="0">
                <a:solidFill>
                  <a:srgbClr val="888888"/>
                </a:solidFill>
                <a:latin typeface="Trebuchet MS"/>
                <a:cs typeface="Trebuchet MS"/>
              </a:rPr>
              <a:t> </a:t>
            </a:r>
            <a:r>
              <a:rPr lang="hr-HR" sz="1500" i="1" spc="-100" noProof="0" dirty="0">
                <a:solidFill>
                  <a:srgbClr val="888888"/>
                </a:solidFill>
                <a:latin typeface="Trebuchet MS"/>
                <a:cs typeface="Trebuchet MS"/>
              </a:rPr>
              <a:t>je</a:t>
            </a:r>
            <a:r>
              <a:rPr lang="hr-HR" sz="1500" i="1" spc="-65" noProof="0" dirty="0">
                <a:solidFill>
                  <a:srgbClr val="888888"/>
                </a:solidFill>
                <a:latin typeface="Trebuchet MS"/>
                <a:cs typeface="Trebuchet MS"/>
              </a:rPr>
              <a:t> </a:t>
            </a:r>
            <a:r>
              <a:rPr lang="hr-HR" sz="1500" i="1" spc="-45" noProof="0" dirty="0">
                <a:solidFill>
                  <a:srgbClr val="888888"/>
                </a:solidFill>
                <a:latin typeface="Trebuchet MS"/>
                <a:cs typeface="Trebuchet MS"/>
              </a:rPr>
              <a:t>memorija</a:t>
            </a:r>
            <a:r>
              <a:rPr lang="hr-HR" sz="1500" i="1" spc="-65" noProof="0" dirty="0">
                <a:solidFill>
                  <a:srgbClr val="888888"/>
                </a:solidFill>
                <a:latin typeface="Trebuchet MS"/>
                <a:cs typeface="Trebuchet MS"/>
              </a:rPr>
              <a:t> </a:t>
            </a:r>
            <a:r>
              <a:rPr lang="hr-HR" sz="1500" i="1" spc="-40" noProof="0" dirty="0">
                <a:solidFill>
                  <a:srgbClr val="888888"/>
                </a:solidFill>
                <a:latin typeface="Trebuchet MS"/>
                <a:cs typeface="Trebuchet MS"/>
              </a:rPr>
              <a:t>brža,</a:t>
            </a:r>
            <a:r>
              <a:rPr lang="hr-HR" sz="1500" i="1" spc="-65" noProof="0" dirty="0">
                <a:solidFill>
                  <a:srgbClr val="888888"/>
                </a:solidFill>
                <a:latin typeface="Trebuchet MS"/>
                <a:cs typeface="Trebuchet MS"/>
              </a:rPr>
              <a:t> </a:t>
            </a:r>
            <a:r>
              <a:rPr lang="hr-HR" sz="1500" i="1" spc="-55" noProof="0" dirty="0">
                <a:solidFill>
                  <a:srgbClr val="888888"/>
                </a:solidFill>
                <a:latin typeface="Trebuchet MS"/>
                <a:cs typeface="Trebuchet MS"/>
              </a:rPr>
              <a:t>to</a:t>
            </a:r>
            <a:r>
              <a:rPr lang="hr-HR" sz="1500" i="1" spc="-65" noProof="0" dirty="0">
                <a:solidFill>
                  <a:srgbClr val="888888"/>
                </a:solidFill>
                <a:latin typeface="Trebuchet MS"/>
                <a:cs typeface="Trebuchet MS"/>
              </a:rPr>
              <a:t> </a:t>
            </a:r>
            <a:r>
              <a:rPr lang="hr-HR" sz="1500" i="1" spc="-100" noProof="0" dirty="0">
                <a:solidFill>
                  <a:srgbClr val="888888"/>
                </a:solidFill>
                <a:latin typeface="Trebuchet MS"/>
                <a:cs typeface="Trebuchet MS"/>
              </a:rPr>
              <a:t>je</a:t>
            </a:r>
            <a:r>
              <a:rPr lang="hr-HR" sz="1500" i="1" spc="-65" noProof="0" dirty="0">
                <a:solidFill>
                  <a:srgbClr val="888888"/>
                </a:solidFill>
                <a:latin typeface="Trebuchet MS"/>
                <a:cs typeface="Trebuchet MS"/>
              </a:rPr>
              <a:t> skuplja </a:t>
            </a:r>
            <a:r>
              <a:rPr lang="hr-HR" sz="1500" i="1" spc="-190" noProof="0" dirty="0">
                <a:solidFill>
                  <a:srgbClr val="888888"/>
                </a:solidFill>
                <a:latin typeface="Trebuchet MS"/>
                <a:cs typeface="Trebuchet MS"/>
              </a:rPr>
              <a:t>i</a:t>
            </a:r>
            <a:r>
              <a:rPr lang="hr-HR" sz="1500" i="1" spc="-60" noProof="0" dirty="0">
                <a:solidFill>
                  <a:srgbClr val="888888"/>
                </a:solidFill>
                <a:latin typeface="Trebuchet MS"/>
                <a:cs typeface="Trebuchet MS"/>
              </a:rPr>
              <a:t> </a:t>
            </a:r>
            <a:r>
              <a:rPr lang="hr-HR" sz="1500" i="1" noProof="0" dirty="0">
                <a:solidFill>
                  <a:srgbClr val="888888"/>
                </a:solidFill>
                <a:latin typeface="Trebuchet MS"/>
                <a:cs typeface="Trebuchet MS"/>
              </a:rPr>
              <a:t>manjeg</a:t>
            </a:r>
            <a:r>
              <a:rPr lang="hr-HR" sz="1500" i="1" spc="-65" noProof="0" dirty="0">
                <a:solidFill>
                  <a:srgbClr val="888888"/>
                </a:solidFill>
                <a:latin typeface="Trebuchet MS"/>
                <a:cs typeface="Trebuchet MS"/>
              </a:rPr>
              <a:t> </a:t>
            </a:r>
            <a:r>
              <a:rPr lang="hr-HR" sz="1500" i="1" spc="-10" noProof="0" dirty="0">
                <a:solidFill>
                  <a:srgbClr val="888888"/>
                </a:solidFill>
                <a:latin typeface="Trebuchet MS"/>
                <a:cs typeface="Trebuchet MS"/>
              </a:rPr>
              <a:t>kapaciteta.</a:t>
            </a:r>
            <a:endParaRPr lang="hr-HR" sz="1500" noProof="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pc="-55" noProof="0" dirty="0"/>
              <a:t>Memorijska</a:t>
            </a:r>
            <a:r>
              <a:rPr lang="hr-HR" spc="-195" noProof="0" dirty="0"/>
              <a:t> </a:t>
            </a:r>
            <a:r>
              <a:rPr lang="hr-HR" spc="-150" noProof="0" dirty="0"/>
              <a:t>Hijerarhija</a:t>
            </a:r>
          </a:p>
        </p:txBody>
      </p:sp>
      <p:sp>
        <p:nvSpPr>
          <p:cNvPr id="5" name="object 5"/>
          <p:cNvSpPr/>
          <p:nvPr/>
        </p:nvSpPr>
        <p:spPr>
          <a:xfrm>
            <a:off x="390525" y="390525"/>
            <a:ext cx="47625" cy="552450"/>
          </a:xfrm>
          <a:custGeom>
            <a:avLst/>
            <a:gdLst/>
            <a:ahLst/>
            <a:cxnLst/>
            <a:rect l="l" t="t" r="r" b="b"/>
            <a:pathLst>
              <a:path w="47625" h="552450">
                <a:moveTo>
                  <a:pt x="47624" y="552449"/>
                </a:moveTo>
                <a:lnTo>
                  <a:pt x="0" y="552449"/>
                </a:lnTo>
                <a:lnTo>
                  <a:pt x="0" y="0"/>
                </a:lnTo>
                <a:lnTo>
                  <a:pt x="47624" y="0"/>
                </a:lnTo>
                <a:lnTo>
                  <a:pt x="47624" y="552449"/>
                </a:lnTo>
                <a:close/>
              </a:path>
            </a:pathLst>
          </a:custGeom>
          <a:solidFill>
            <a:srgbClr val="00FF88"/>
          </a:solidFill>
        </p:spPr>
        <p:txBody>
          <a:bodyPr wrap="square" lIns="0" tIns="0" rIns="0" bIns="0" rtlCol="0"/>
          <a:lstStyle/>
          <a:p>
            <a:endParaRPr lang="hr-HR" noProof="0" dirty="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525" y="2471737"/>
            <a:ext cx="95249" cy="1523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525" y="2967037"/>
            <a:ext cx="95249" cy="1523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525" y="3767137"/>
            <a:ext cx="95249" cy="1523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525" y="4262437"/>
            <a:ext cx="95249" cy="1523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8825" y="973899"/>
            <a:ext cx="331914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hr-HR" spc="65" noProof="0" dirty="0"/>
              <a:t>Glavna</a:t>
            </a:r>
            <a:r>
              <a:rPr lang="hr-HR" spc="-204" noProof="0" dirty="0"/>
              <a:t> </a:t>
            </a:r>
            <a:r>
              <a:rPr lang="hr-HR" spc="-10" noProof="0" dirty="0"/>
              <a:t>(Radna) Memorija</a:t>
            </a:r>
          </a:p>
        </p:txBody>
      </p:sp>
      <p:sp>
        <p:nvSpPr>
          <p:cNvPr id="3" name="object 3"/>
          <p:cNvSpPr/>
          <p:nvPr/>
        </p:nvSpPr>
        <p:spPr>
          <a:xfrm>
            <a:off x="581025" y="1004887"/>
            <a:ext cx="47625" cy="1104900"/>
          </a:xfrm>
          <a:custGeom>
            <a:avLst/>
            <a:gdLst/>
            <a:ahLst/>
            <a:cxnLst/>
            <a:rect l="l" t="t" r="r" b="b"/>
            <a:pathLst>
              <a:path w="47625" h="1104900">
                <a:moveTo>
                  <a:pt x="47624" y="1104899"/>
                </a:moveTo>
                <a:lnTo>
                  <a:pt x="0" y="1104899"/>
                </a:lnTo>
                <a:lnTo>
                  <a:pt x="0" y="0"/>
                </a:lnTo>
                <a:lnTo>
                  <a:pt x="47624" y="0"/>
                </a:lnTo>
                <a:lnTo>
                  <a:pt x="47624" y="1104899"/>
                </a:lnTo>
                <a:close/>
              </a:path>
            </a:pathLst>
          </a:custGeom>
          <a:solidFill>
            <a:srgbClr val="00FF88"/>
          </a:solidFill>
        </p:spPr>
        <p:txBody>
          <a:bodyPr wrap="square" lIns="0" tIns="0" rIns="0" bIns="0" rtlCol="0"/>
          <a:lstStyle/>
          <a:p>
            <a:endParaRPr lang="hr-HR" noProof="0" dirty="0"/>
          </a:p>
        </p:txBody>
      </p:sp>
      <p:pic>
        <p:nvPicPr>
          <p:cNvPr id="4" name="object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1408168"/>
            <a:ext cx="6086474" cy="40511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68325" y="2660967"/>
            <a:ext cx="4752340" cy="2858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Glavna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35" noProof="0" dirty="0">
                <a:solidFill>
                  <a:srgbClr val="CCCCCC"/>
                </a:solidFill>
                <a:latin typeface="Trebuchet MS"/>
                <a:cs typeface="Trebuchet MS"/>
              </a:rPr>
              <a:t>memorija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10" noProof="0" dirty="0">
                <a:solidFill>
                  <a:srgbClr val="CCCCCC"/>
                </a:solidFill>
                <a:latin typeface="Trebuchet MS"/>
                <a:cs typeface="Trebuchet MS"/>
              </a:rPr>
              <a:t>je</a:t>
            </a:r>
            <a:r>
              <a:rPr lang="hr-HR" sz="1500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30" noProof="0" dirty="0">
                <a:solidFill>
                  <a:srgbClr val="CCCCCC"/>
                </a:solidFill>
                <a:latin typeface="Trebuchet MS"/>
                <a:cs typeface="Trebuchet MS"/>
              </a:rPr>
              <a:t>središte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računalnog</a:t>
            </a:r>
            <a:r>
              <a:rPr lang="hr-HR" sz="1500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sustava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gdje</a:t>
            </a:r>
            <a:r>
              <a:rPr lang="hr-HR" sz="1500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25" noProof="0" dirty="0">
                <a:solidFill>
                  <a:srgbClr val="CCCCCC"/>
                </a:solidFill>
                <a:latin typeface="Trebuchet MS"/>
                <a:cs typeface="Trebuchet MS"/>
              </a:rPr>
              <a:t>se</a:t>
            </a:r>
            <a:endParaRPr lang="hr-HR" sz="1500" noProof="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nalaze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programi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50" noProof="0" dirty="0">
                <a:solidFill>
                  <a:srgbClr val="CCCCCC"/>
                </a:solidFill>
                <a:latin typeface="Trebuchet MS"/>
                <a:cs typeface="Trebuchet MS"/>
              </a:rPr>
              <a:t>i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podaci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10" noProof="0" dirty="0">
                <a:solidFill>
                  <a:srgbClr val="CCCCCC"/>
                </a:solidFill>
                <a:latin typeface="Trebuchet MS"/>
                <a:cs typeface="Trebuchet MS"/>
              </a:rPr>
              <a:t>koji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se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50" noProof="0" dirty="0">
                <a:solidFill>
                  <a:srgbClr val="CCCCCC"/>
                </a:solidFill>
                <a:latin typeface="Trebuchet MS"/>
                <a:cs typeface="Trebuchet MS"/>
              </a:rPr>
              <a:t>trenutno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izvršavaju.</a:t>
            </a:r>
            <a:endParaRPr lang="hr-HR" sz="1500" noProof="0" dirty="0">
              <a:latin typeface="Trebuchet MS"/>
              <a:cs typeface="Trebuchet MS"/>
            </a:endParaRPr>
          </a:p>
          <a:p>
            <a:pPr marL="298450" marR="5080">
              <a:lnSpc>
                <a:spcPct val="160000"/>
              </a:lnSpc>
              <a:spcBef>
                <a:spcPts val="1664"/>
              </a:spcBef>
            </a:pPr>
            <a:r>
              <a:rPr lang="hr-HR" sz="1500" b="1" spc="105" noProof="0" dirty="0">
                <a:solidFill>
                  <a:srgbClr val="CCCCCC"/>
                </a:solidFill>
                <a:latin typeface="Trebuchet MS"/>
                <a:cs typeface="Trebuchet MS"/>
              </a:rPr>
              <a:t>RAM</a:t>
            </a:r>
            <a:r>
              <a:rPr lang="hr-HR" sz="1500" b="1" spc="-7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b="1" noProof="0" dirty="0">
                <a:solidFill>
                  <a:srgbClr val="CCCCCC"/>
                </a:solidFill>
                <a:latin typeface="Trebuchet MS"/>
                <a:cs typeface="Trebuchet MS"/>
              </a:rPr>
              <a:t>(Random</a:t>
            </a:r>
            <a:r>
              <a:rPr lang="hr-HR" sz="1500" b="1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b="1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Access</a:t>
            </a:r>
            <a:r>
              <a:rPr lang="hr-HR" sz="1500" b="1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b="1" spc="-20" noProof="0" dirty="0" err="1">
                <a:solidFill>
                  <a:srgbClr val="CCCCCC"/>
                </a:solidFill>
                <a:latin typeface="Trebuchet MS"/>
                <a:cs typeface="Trebuchet MS"/>
              </a:rPr>
              <a:t>Memory</a:t>
            </a:r>
            <a:r>
              <a:rPr lang="hr-HR" sz="1500" b="1" spc="-20" noProof="0" dirty="0">
                <a:solidFill>
                  <a:srgbClr val="CCCCCC"/>
                </a:solidFill>
                <a:latin typeface="Trebuchet MS"/>
                <a:cs typeface="Trebuchet MS"/>
              </a:rPr>
              <a:t>):</a:t>
            </a:r>
            <a:r>
              <a:rPr lang="hr-HR" sz="1500" b="1" spc="-7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Omogućuje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izravan </a:t>
            </a:r>
            <a:r>
              <a:rPr lang="hr-HR" sz="1500" spc="-35" noProof="0" dirty="0">
                <a:solidFill>
                  <a:srgbClr val="CCCCCC"/>
                </a:solidFill>
                <a:latin typeface="Trebuchet MS"/>
                <a:cs typeface="Trebuchet MS"/>
              </a:rPr>
              <a:t>pristup</a:t>
            </a:r>
            <a:r>
              <a:rPr lang="hr-HR" sz="1500" spc="-8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bilo</a:t>
            </a:r>
            <a:r>
              <a:rPr lang="hr-HR" sz="1500" spc="-8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0" noProof="0" dirty="0">
                <a:solidFill>
                  <a:srgbClr val="CCCCCC"/>
                </a:solidFill>
                <a:latin typeface="Trebuchet MS"/>
                <a:cs typeface="Trebuchet MS"/>
              </a:rPr>
              <a:t>kojoj</a:t>
            </a:r>
            <a:r>
              <a:rPr lang="hr-HR" sz="1500" spc="-8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lokaciji.</a:t>
            </a:r>
            <a:endParaRPr lang="hr-HR" sz="1500" noProof="0" dirty="0">
              <a:latin typeface="Trebuchet MS"/>
              <a:cs typeface="Trebuchet MS"/>
            </a:endParaRPr>
          </a:p>
          <a:p>
            <a:pPr marL="298450">
              <a:lnSpc>
                <a:spcPct val="100000"/>
              </a:lnSpc>
              <a:spcBef>
                <a:spcPts val="1620"/>
              </a:spcBef>
            </a:pPr>
            <a:r>
              <a:rPr lang="hr-HR" sz="1500" b="1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Volatilnost:</a:t>
            </a:r>
            <a:r>
              <a:rPr lang="hr-HR" sz="1500" b="1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Gubi</a:t>
            </a:r>
            <a:r>
              <a:rPr lang="hr-HR" sz="1500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podatke</a:t>
            </a:r>
            <a:r>
              <a:rPr lang="hr-HR" sz="1500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prestankom</a:t>
            </a:r>
            <a:r>
              <a:rPr lang="hr-HR" sz="1500" spc="-5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napajanja.</a:t>
            </a:r>
            <a:endParaRPr lang="hr-HR" sz="1500" noProof="0" dirty="0">
              <a:latin typeface="Trebuchet MS"/>
              <a:cs typeface="Trebuchet MS"/>
            </a:endParaRPr>
          </a:p>
          <a:p>
            <a:pPr marL="298450" marR="95250">
              <a:lnSpc>
                <a:spcPct val="160000"/>
              </a:lnSpc>
              <a:spcBef>
                <a:spcPts val="1020"/>
              </a:spcBef>
            </a:pPr>
            <a:r>
              <a:rPr lang="hr-HR" sz="1500" b="1" spc="85" noProof="0" dirty="0">
                <a:solidFill>
                  <a:srgbClr val="CCCCCC"/>
                </a:solidFill>
                <a:latin typeface="Trebuchet MS"/>
                <a:cs typeface="Trebuchet MS"/>
              </a:rPr>
              <a:t>DRAM</a:t>
            </a:r>
            <a:r>
              <a:rPr lang="hr-HR" sz="1500" b="1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b="1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Tehnologija:</a:t>
            </a:r>
            <a:r>
              <a:rPr lang="hr-HR" sz="1500" b="1" spc="-7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80" noProof="0" dirty="0">
                <a:solidFill>
                  <a:srgbClr val="CCCCCC"/>
                </a:solidFill>
                <a:latin typeface="Trebuchet MS"/>
                <a:cs typeface="Trebuchet MS"/>
              </a:rPr>
              <a:t>Koristi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kondenzatore</a:t>
            </a:r>
            <a:r>
              <a:rPr lang="hr-HR" sz="1500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55" noProof="0" dirty="0">
                <a:solidFill>
                  <a:srgbClr val="CCCCCC"/>
                </a:solidFill>
                <a:latin typeface="Trebuchet MS"/>
                <a:cs typeface="Trebuchet MS"/>
              </a:rPr>
              <a:t>za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pohranu </a:t>
            </a:r>
            <a:r>
              <a:rPr lang="hr-HR" sz="1500" spc="-80" noProof="0" dirty="0">
                <a:solidFill>
                  <a:srgbClr val="CCCCCC"/>
                </a:solidFill>
                <a:latin typeface="Trebuchet MS"/>
                <a:cs typeface="Trebuchet MS"/>
              </a:rPr>
              <a:t>bita,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45" noProof="0" dirty="0">
                <a:solidFill>
                  <a:srgbClr val="CCCCCC"/>
                </a:solidFill>
                <a:latin typeface="Trebuchet MS"/>
                <a:cs typeface="Trebuchet MS"/>
              </a:rPr>
              <a:t>zahtijeva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osvježavanje.</a:t>
            </a:r>
            <a:endParaRPr lang="hr-HR" sz="1500" noProof="0" dirty="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025" y="3643312"/>
            <a:ext cx="95249" cy="1523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025" y="4443412"/>
            <a:ext cx="95249" cy="1523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025" y="4938712"/>
            <a:ext cx="95249" cy="1523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525" y="2209800"/>
            <a:ext cx="3613099" cy="33718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9375" y="2209800"/>
            <a:ext cx="3613099" cy="33718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88225" y="2209800"/>
            <a:ext cx="3613099" cy="33718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911250" y="2505075"/>
            <a:ext cx="571500" cy="571500"/>
            <a:chOff x="1911250" y="2505075"/>
            <a:chExt cx="571500" cy="57150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11250" y="2505075"/>
              <a:ext cx="571499" cy="5714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68400" y="2562225"/>
              <a:ext cx="457199" cy="45719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041570" y="3243707"/>
            <a:ext cx="237617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z="2100" b="1" spc="-75" noProof="0" dirty="0">
                <a:solidFill>
                  <a:srgbClr val="00FF88"/>
                </a:solidFill>
                <a:latin typeface="Trebuchet MS"/>
                <a:cs typeface="Trebuchet MS"/>
              </a:rPr>
              <a:t>Povezivanje</a:t>
            </a:r>
            <a:r>
              <a:rPr lang="hr-HR" sz="2100" b="1" spc="-65" noProof="0" dirty="0">
                <a:solidFill>
                  <a:srgbClr val="00FF88"/>
                </a:solidFill>
                <a:latin typeface="Trebuchet MS"/>
                <a:cs typeface="Trebuchet MS"/>
              </a:rPr>
              <a:t> </a:t>
            </a:r>
            <a:r>
              <a:rPr lang="hr-HR" sz="2100" b="1" spc="-10" noProof="0" dirty="0">
                <a:solidFill>
                  <a:srgbClr val="00FF88"/>
                </a:solidFill>
                <a:latin typeface="Trebuchet MS"/>
                <a:cs typeface="Trebuchet MS"/>
              </a:rPr>
              <a:t>Čipova</a:t>
            </a:r>
            <a:endParaRPr lang="hr-HR" sz="2100" noProof="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3098" y="3903979"/>
            <a:ext cx="2949575" cy="1351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hr-HR" sz="1500" spc="-40" noProof="0" dirty="0">
                <a:solidFill>
                  <a:srgbClr val="CCCCCC"/>
                </a:solidFill>
                <a:latin typeface="Trebuchet MS"/>
                <a:cs typeface="Trebuchet MS"/>
              </a:rPr>
              <a:t>Memorijski</a:t>
            </a:r>
            <a:r>
              <a:rPr lang="hr-HR" sz="1500" spc="-5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40" noProof="0" dirty="0">
                <a:solidFill>
                  <a:srgbClr val="CCCCCC"/>
                </a:solidFill>
                <a:latin typeface="Trebuchet MS"/>
                <a:cs typeface="Trebuchet MS"/>
              </a:rPr>
              <a:t>čipovi</a:t>
            </a:r>
            <a:r>
              <a:rPr lang="hr-HR" sz="1500" spc="-5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se</a:t>
            </a:r>
            <a:r>
              <a:rPr lang="hr-HR" sz="1500" spc="-5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40" noProof="0" dirty="0">
                <a:solidFill>
                  <a:srgbClr val="CCCCCC"/>
                </a:solidFill>
                <a:latin typeface="Trebuchet MS"/>
                <a:cs typeface="Trebuchet MS"/>
              </a:rPr>
              <a:t>povezuju</a:t>
            </a:r>
            <a:r>
              <a:rPr lang="hr-HR" sz="1500" spc="-50" noProof="0" dirty="0">
                <a:solidFill>
                  <a:srgbClr val="CCCCCC"/>
                </a:solidFill>
                <a:latin typeface="Trebuchet MS"/>
                <a:cs typeface="Trebuchet MS"/>
              </a:rPr>
              <a:t> u</a:t>
            </a:r>
            <a:endParaRPr lang="hr-HR" sz="1500" noProof="0" dirty="0">
              <a:latin typeface="Trebuchet MS"/>
              <a:cs typeface="Trebuchet MS"/>
            </a:endParaRPr>
          </a:p>
          <a:p>
            <a:pPr marL="12700" marR="5080" indent="-1270" algn="ctr">
              <a:lnSpc>
                <a:spcPct val="160000"/>
              </a:lnSpc>
            </a:pPr>
            <a:r>
              <a:rPr lang="hr-HR" sz="1500" spc="-25" noProof="0" dirty="0">
                <a:solidFill>
                  <a:srgbClr val="CCCCCC"/>
                </a:solidFill>
                <a:latin typeface="Trebuchet MS"/>
                <a:cs typeface="Trebuchet MS"/>
              </a:rPr>
              <a:t>matrice</a:t>
            </a:r>
            <a:r>
              <a:rPr lang="hr-HR" sz="1500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20" noProof="0" dirty="0">
                <a:solidFill>
                  <a:srgbClr val="CCCCCC"/>
                </a:solidFill>
                <a:latin typeface="Trebuchet MS"/>
                <a:cs typeface="Trebuchet MS"/>
              </a:rPr>
              <a:t>kako</a:t>
            </a:r>
            <a:r>
              <a:rPr lang="hr-HR" sz="1500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 bi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se</a:t>
            </a:r>
            <a:r>
              <a:rPr lang="hr-HR" sz="1500" spc="-5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postigao</a:t>
            </a:r>
            <a:r>
              <a:rPr lang="hr-HR" sz="1500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željeni </a:t>
            </a:r>
            <a:r>
              <a:rPr lang="hr-HR" sz="1500" spc="-30" noProof="0" dirty="0">
                <a:solidFill>
                  <a:srgbClr val="CCCCCC"/>
                </a:solidFill>
                <a:latin typeface="Trebuchet MS"/>
                <a:cs typeface="Trebuchet MS"/>
              </a:rPr>
              <a:t>kapacitet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30" noProof="0" dirty="0">
                <a:solidFill>
                  <a:srgbClr val="CCCCCC"/>
                </a:solidFill>
                <a:latin typeface="Trebuchet MS"/>
                <a:cs typeface="Trebuchet MS"/>
              </a:rPr>
              <a:t>(dubina)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50" noProof="0" dirty="0">
                <a:solidFill>
                  <a:srgbClr val="CCCCCC"/>
                </a:solidFill>
                <a:latin typeface="Trebuchet MS"/>
                <a:cs typeface="Trebuchet MS"/>
              </a:rPr>
              <a:t>i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širina </a:t>
            </a:r>
            <a:r>
              <a:rPr lang="hr-HR" sz="1500" spc="-105" noProof="0" dirty="0">
                <a:solidFill>
                  <a:srgbClr val="CCCCCC"/>
                </a:solidFill>
                <a:latin typeface="Trebuchet MS"/>
                <a:cs typeface="Trebuchet MS"/>
              </a:rPr>
              <a:t>riječi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(npr.</a:t>
            </a:r>
            <a:endParaRPr lang="hr-HR" sz="1500" noProof="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8</a:t>
            </a:r>
            <a:r>
              <a:rPr lang="hr-HR" sz="1500" spc="-7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35" noProof="0" dirty="0">
                <a:solidFill>
                  <a:srgbClr val="CCCCCC"/>
                </a:solidFill>
                <a:latin typeface="Trebuchet MS"/>
                <a:cs typeface="Trebuchet MS"/>
              </a:rPr>
              <a:t>bita</a:t>
            </a:r>
            <a:r>
              <a:rPr lang="hr-HR" sz="1500" spc="-7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x</a:t>
            </a:r>
            <a:r>
              <a:rPr lang="hr-HR" sz="1500" spc="-7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8</a:t>
            </a:r>
            <a:r>
              <a:rPr lang="hr-HR" sz="1500" spc="-7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čipova</a:t>
            </a:r>
            <a:r>
              <a:rPr lang="hr-HR" sz="1500" spc="-7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75" noProof="0" dirty="0">
                <a:solidFill>
                  <a:srgbClr val="CCCCCC"/>
                </a:solidFill>
                <a:latin typeface="Trebuchet MS"/>
                <a:cs typeface="Trebuchet MS"/>
              </a:rPr>
              <a:t>=</a:t>
            </a:r>
            <a:r>
              <a:rPr lang="hr-HR" sz="1500" spc="-7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64</a:t>
            </a:r>
            <a:r>
              <a:rPr lang="hr-HR" sz="1500" spc="-7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bita).</a:t>
            </a:r>
            <a:endParaRPr lang="hr-HR" sz="1500" noProof="0" dirty="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810101" y="2505075"/>
            <a:ext cx="571500" cy="571500"/>
            <a:chOff x="5810101" y="2505075"/>
            <a:chExt cx="571500" cy="57150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10101" y="2505075"/>
              <a:ext cx="571499" cy="5714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38676" y="2562225"/>
              <a:ext cx="514349" cy="45719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5090504" y="3243707"/>
            <a:ext cx="2075814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z="2100" b="1" spc="-45" noProof="0" dirty="0">
                <a:solidFill>
                  <a:srgbClr val="00FF88"/>
                </a:solidFill>
                <a:latin typeface="Trebuchet MS"/>
                <a:cs typeface="Trebuchet MS"/>
              </a:rPr>
              <a:t>Adresni</a:t>
            </a:r>
            <a:r>
              <a:rPr lang="hr-HR" sz="2100" b="1" spc="-95" noProof="0" dirty="0">
                <a:solidFill>
                  <a:srgbClr val="00FF88"/>
                </a:solidFill>
                <a:latin typeface="Trebuchet MS"/>
                <a:cs typeface="Trebuchet MS"/>
              </a:rPr>
              <a:t> </a:t>
            </a:r>
            <a:r>
              <a:rPr lang="hr-HR" sz="2100" b="1" spc="-50" noProof="0" dirty="0">
                <a:solidFill>
                  <a:srgbClr val="00FF88"/>
                </a:solidFill>
                <a:latin typeface="Trebuchet MS"/>
                <a:cs typeface="Trebuchet MS"/>
              </a:rPr>
              <a:t>Dekoderi</a:t>
            </a:r>
            <a:endParaRPr lang="hr-HR" sz="2100" noProof="0" dirty="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18695" y="3903979"/>
            <a:ext cx="295465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Sklopovi</a:t>
            </a:r>
            <a:r>
              <a:rPr lang="hr-HR" sz="1500" spc="-5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10" noProof="0" dirty="0">
                <a:solidFill>
                  <a:srgbClr val="CCCCCC"/>
                </a:solidFill>
                <a:latin typeface="Trebuchet MS"/>
                <a:cs typeface="Trebuchet MS"/>
              </a:rPr>
              <a:t>koji</a:t>
            </a:r>
            <a:r>
              <a:rPr lang="hr-HR" sz="1500" spc="-4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"otključavaju"</a:t>
            </a:r>
            <a:r>
              <a:rPr lang="hr-HR" sz="1500" spc="-4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odre</a:t>
            </a:r>
            <a:r>
              <a:rPr lang="hr-HR" sz="1500" spc="-10" noProof="0" dirty="0">
                <a:solidFill>
                  <a:srgbClr val="CCCCCC"/>
                </a:solidFill>
                <a:latin typeface="Microsoft Sans Serif"/>
                <a:cs typeface="Microsoft Sans Serif"/>
              </a:rPr>
              <a:t>đ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eni</a:t>
            </a:r>
            <a:endParaRPr lang="hr-HR" sz="1500" noProof="0" dirty="0">
              <a:latin typeface="Trebuchet MS"/>
              <a:cs typeface="Trebuchet MS"/>
            </a:endParaRPr>
          </a:p>
          <a:p>
            <a:pPr marL="126364" marR="27305" indent="-91440">
              <a:lnSpc>
                <a:spcPct val="160000"/>
              </a:lnSpc>
            </a:pPr>
            <a:r>
              <a:rPr lang="hr-HR" sz="1500" spc="-30" noProof="0" dirty="0">
                <a:solidFill>
                  <a:srgbClr val="CCCCCC"/>
                </a:solidFill>
                <a:latin typeface="Trebuchet MS"/>
                <a:cs typeface="Trebuchet MS"/>
              </a:rPr>
              <a:t>čip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45" noProof="0" dirty="0">
                <a:solidFill>
                  <a:srgbClr val="CCCCCC"/>
                </a:solidFill>
                <a:latin typeface="Trebuchet MS"/>
                <a:cs typeface="Trebuchet MS"/>
              </a:rPr>
              <a:t>ili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45" noProof="0" dirty="0">
                <a:solidFill>
                  <a:srgbClr val="CCCCCC"/>
                </a:solidFill>
                <a:latin typeface="Trebuchet MS"/>
                <a:cs typeface="Trebuchet MS"/>
              </a:rPr>
              <a:t>memorijsku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banku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na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50" noProof="0" dirty="0">
                <a:solidFill>
                  <a:srgbClr val="CCCCCC"/>
                </a:solidFill>
                <a:latin typeface="Trebuchet MS"/>
                <a:cs typeface="Trebuchet MS"/>
              </a:rPr>
              <a:t>temelju </a:t>
            </a:r>
            <a:r>
              <a:rPr lang="hr-HR" sz="1500" spc="-20" noProof="0" dirty="0">
                <a:solidFill>
                  <a:srgbClr val="CCCCCC"/>
                </a:solidFill>
                <a:latin typeface="Trebuchet MS"/>
                <a:cs typeface="Trebuchet MS"/>
              </a:rPr>
              <a:t>adresnih</a:t>
            </a:r>
            <a:r>
              <a:rPr lang="hr-HR" sz="1500" spc="-8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35" noProof="0" dirty="0">
                <a:solidFill>
                  <a:srgbClr val="CCCCCC"/>
                </a:solidFill>
                <a:latin typeface="Trebuchet MS"/>
                <a:cs typeface="Trebuchet MS"/>
              </a:rPr>
              <a:t>bita</a:t>
            </a:r>
            <a:r>
              <a:rPr lang="hr-HR" sz="1500" spc="-7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koje</a:t>
            </a:r>
            <a:r>
              <a:rPr lang="hr-HR" sz="1500" spc="-7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šalje</a:t>
            </a:r>
            <a:r>
              <a:rPr lang="hr-HR" sz="1500" spc="-7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procesor.</a:t>
            </a:r>
            <a:endParaRPr lang="hr-HR" sz="1500" noProof="0" dirty="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708950" y="2505075"/>
            <a:ext cx="571500" cy="571500"/>
            <a:chOff x="9708950" y="2505075"/>
            <a:chExt cx="571500" cy="571500"/>
          </a:xfrm>
        </p:grpSpPr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08950" y="2505075"/>
              <a:ext cx="571499" cy="5714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708950" y="2562225"/>
              <a:ext cx="571499" cy="45719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9045161" y="3243707"/>
            <a:ext cx="196405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z="2100" b="1" spc="-110" noProof="0" dirty="0">
                <a:solidFill>
                  <a:srgbClr val="00FF88"/>
                </a:solidFill>
                <a:latin typeface="Trebuchet MS"/>
                <a:cs typeface="Trebuchet MS"/>
              </a:rPr>
              <a:t>Kontrolni</a:t>
            </a:r>
            <a:r>
              <a:rPr lang="hr-HR" sz="2100" b="1" spc="-85" noProof="0" dirty="0">
                <a:solidFill>
                  <a:srgbClr val="00FF88"/>
                </a:solidFill>
                <a:latin typeface="Trebuchet MS"/>
                <a:cs typeface="Trebuchet MS"/>
              </a:rPr>
              <a:t> </a:t>
            </a:r>
            <a:r>
              <a:rPr lang="hr-HR" sz="2100" b="1" spc="-10" noProof="0" dirty="0">
                <a:solidFill>
                  <a:srgbClr val="00FF88"/>
                </a:solidFill>
                <a:latin typeface="Trebuchet MS"/>
                <a:cs typeface="Trebuchet MS"/>
              </a:rPr>
              <a:t>Signali</a:t>
            </a:r>
            <a:endParaRPr lang="hr-HR" sz="2100" noProof="0" dirty="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592903" y="3903979"/>
            <a:ext cx="2804160" cy="1351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hr-HR" sz="1500" spc="-45" noProof="0" dirty="0">
                <a:solidFill>
                  <a:srgbClr val="CCCCCC"/>
                </a:solidFill>
                <a:latin typeface="Trebuchet MS"/>
                <a:cs typeface="Trebuchet MS"/>
              </a:rPr>
              <a:t>Upravljački </a:t>
            </a:r>
            <a:r>
              <a:rPr lang="hr-HR" sz="1500" spc="-40" noProof="0" dirty="0">
                <a:solidFill>
                  <a:srgbClr val="CCCCCC"/>
                </a:solidFill>
                <a:latin typeface="Trebuchet MS"/>
                <a:cs typeface="Trebuchet MS"/>
              </a:rPr>
              <a:t>signali </a:t>
            </a:r>
            <a:r>
              <a:rPr lang="hr-HR" sz="1500" spc="-45" noProof="0" dirty="0">
                <a:solidFill>
                  <a:srgbClr val="CCCCCC"/>
                </a:solidFill>
                <a:latin typeface="Trebuchet MS"/>
                <a:cs typeface="Trebuchet MS"/>
              </a:rPr>
              <a:t>(RAS,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CAS,</a:t>
            </a:r>
            <a:r>
              <a:rPr lang="hr-HR" sz="1500" spc="-4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25" noProof="0" dirty="0">
                <a:solidFill>
                  <a:srgbClr val="CCCCCC"/>
                </a:solidFill>
                <a:latin typeface="Trebuchet MS"/>
                <a:cs typeface="Trebuchet MS"/>
              </a:rPr>
              <a:t>WE)</a:t>
            </a:r>
            <a:endParaRPr lang="hr-HR" sz="1500" noProof="0" dirty="0">
              <a:latin typeface="Trebuchet MS"/>
              <a:cs typeface="Trebuchet MS"/>
            </a:endParaRPr>
          </a:p>
          <a:p>
            <a:pPr marL="81915" marR="73025" indent="-1270" algn="ctr">
              <a:lnSpc>
                <a:spcPct val="160000"/>
              </a:lnSpc>
            </a:pPr>
            <a:r>
              <a:rPr lang="hr-HR" sz="1500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sinkroniziraju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čitanje</a:t>
            </a:r>
            <a:r>
              <a:rPr lang="hr-HR" sz="1500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50" noProof="0" dirty="0">
                <a:solidFill>
                  <a:srgbClr val="CCCCCC"/>
                </a:solidFill>
                <a:latin typeface="Trebuchet MS"/>
                <a:cs typeface="Trebuchet MS"/>
              </a:rPr>
              <a:t>i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pisanje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podataka</a:t>
            </a:r>
            <a:r>
              <a:rPr lang="hr-HR" sz="1500" spc="-3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u</a:t>
            </a:r>
            <a:r>
              <a:rPr lang="hr-HR" sz="1500" spc="-2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30" noProof="0" dirty="0">
                <a:solidFill>
                  <a:srgbClr val="CCCCCC"/>
                </a:solidFill>
                <a:latin typeface="Trebuchet MS"/>
                <a:cs typeface="Trebuchet MS"/>
              </a:rPr>
              <a:t>točnim</a:t>
            </a:r>
            <a:r>
              <a:rPr lang="hr-HR" sz="1500" spc="-2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vremenskim intervalima.</a:t>
            </a:r>
            <a:endParaRPr lang="hr-HR" sz="1500" noProof="0" dirty="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pc="-185" noProof="0" dirty="0"/>
              <a:t>Projektiranje </a:t>
            </a:r>
            <a:r>
              <a:rPr lang="hr-HR" spc="-45" noProof="0" dirty="0"/>
              <a:t>Memorijskog</a:t>
            </a:r>
            <a:r>
              <a:rPr lang="hr-HR" spc="-170" noProof="0" dirty="0"/>
              <a:t> </a:t>
            </a:r>
            <a:r>
              <a:rPr lang="hr-HR" spc="40" noProof="0" dirty="0"/>
              <a:t>Modula</a:t>
            </a:r>
          </a:p>
        </p:txBody>
      </p:sp>
      <p:sp>
        <p:nvSpPr>
          <p:cNvPr id="21" name="object 21"/>
          <p:cNvSpPr/>
          <p:nvPr/>
        </p:nvSpPr>
        <p:spPr>
          <a:xfrm>
            <a:off x="390525" y="390525"/>
            <a:ext cx="47625" cy="552450"/>
          </a:xfrm>
          <a:custGeom>
            <a:avLst/>
            <a:gdLst/>
            <a:ahLst/>
            <a:cxnLst/>
            <a:rect l="l" t="t" r="r" b="b"/>
            <a:pathLst>
              <a:path w="47625" h="552450">
                <a:moveTo>
                  <a:pt x="47624" y="552449"/>
                </a:moveTo>
                <a:lnTo>
                  <a:pt x="0" y="552449"/>
                </a:lnTo>
                <a:lnTo>
                  <a:pt x="0" y="0"/>
                </a:lnTo>
                <a:lnTo>
                  <a:pt x="47624" y="0"/>
                </a:lnTo>
                <a:lnTo>
                  <a:pt x="47624" y="552449"/>
                </a:lnTo>
                <a:close/>
              </a:path>
            </a:pathLst>
          </a:custGeom>
          <a:solidFill>
            <a:srgbClr val="00FF88"/>
          </a:solidFill>
        </p:spPr>
        <p:txBody>
          <a:bodyPr wrap="square" lIns="0" tIns="0" rIns="0" bIns="0" rtlCol="0"/>
          <a:lstStyle/>
          <a:p>
            <a:endParaRPr lang="hr-HR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4415" y="3091904"/>
            <a:ext cx="514349" cy="5143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17355" y="3091904"/>
            <a:ext cx="514349" cy="5143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60294" y="3091904"/>
            <a:ext cx="514349" cy="514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03234" y="3091904"/>
            <a:ext cx="514349" cy="51434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90525" y="4067175"/>
            <a:ext cx="11410950" cy="38100"/>
          </a:xfrm>
          <a:custGeom>
            <a:avLst/>
            <a:gdLst/>
            <a:ahLst/>
            <a:cxnLst/>
            <a:rect l="l" t="t" r="r" b="b"/>
            <a:pathLst>
              <a:path w="11410950" h="38100">
                <a:moveTo>
                  <a:pt x="11410949" y="38099"/>
                </a:moveTo>
                <a:lnTo>
                  <a:pt x="0" y="38099"/>
                </a:lnTo>
                <a:lnTo>
                  <a:pt x="0" y="0"/>
                </a:lnTo>
                <a:lnTo>
                  <a:pt x="11410949" y="0"/>
                </a:lnTo>
                <a:lnTo>
                  <a:pt x="11410949" y="38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lang="hr-HR" noProof="0" dirty="0"/>
          </a:p>
        </p:txBody>
      </p:sp>
      <p:sp>
        <p:nvSpPr>
          <p:cNvPr id="7" name="object 7"/>
          <p:cNvSpPr txBox="1"/>
          <p:nvPr/>
        </p:nvSpPr>
        <p:spPr>
          <a:xfrm>
            <a:off x="1152860" y="3775671"/>
            <a:ext cx="75819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z="1650" b="1" spc="95" noProof="0" dirty="0">
                <a:solidFill>
                  <a:srgbClr val="FFFFFF"/>
                </a:solidFill>
                <a:latin typeface="Trebuchet MS"/>
                <a:cs typeface="Trebuchet MS"/>
              </a:rPr>
              <a:t>SDRAM</a:t>
            </a:r>
            <a:endParaRPr lang="hr-HR" sz="1650" noProof="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4994" y="4187533"/>
            <a:ext cx="2233295" cy="501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z="1200" spc="-30" noProof="0" dirty="0">
                <a:solidFill>
                  <a:srgbClr val="AAAAAA"/>
                </a:solidFill>
                <a:latin typeface="Trebuchet MS"/>
                <a:cs typeface="Trebuchet MS"/>
              </a:rPr>
              <a:t>Sinkroniziran</a:t>
            </a:r>
            <a:r>
              <a:rPr lang="hr-HR" sz="1200" spc="-35" noProof="0" dirty="0">
                <a:solidFill>
                  <a:srgbClr val="AAAAAA"/>
                </a:solidFill>
                <a:latin typeface="Trebuchet MS"/>
                <a:cs typeface="Trebuchet MS"/>
              </a:rPr>
              <a:t> </a:t>
            </a:r>
            <a:r>
              <a:rPr lang="hr-HR" sz="1200" noProof="0" dirty="0">
                <a:solidFill>
                  <a:srgbClr val="AAAAAA"/>
                </a:solidFill>
                <a:latin typeface="Trebuchet MS"/>
                <a:cs typeface="Trebuchet MS"/>
              </a:rPr>
              <a:t>s</a:t>
            </a:r>
            <a:r>
              <a:rPr lang="hr-HR" sz="1200" spc="-35" noProof="0" dirty="0">
                <a:solidFill>
                  <a:srgbClr val="AAAAAA"/>
                </a:solidFill>
                <a:latin typeface="Trebuchet MS"/>
                <a:cs typeface="Trebuchet MS"/>
              </a:rPr>
              <a:t> </a:t>
            </a:r>
            <a:r>
              <a:rPr lang="hr-HR" sz="1200" spc="-10" noProof="0" dirty="0">
                <a:solidFill>
                  <a:srgbClr val="AAAAAA"/>
                </a:solidFill>
                <a:latin typeface="Trebuchet MS"/>
                <a:cs typeface="Trebuchet MS"/>
              </a:rPr>
              <a:t>taktom</a:t>
            </a:r>
            <a:r>
              <a:rPr lang="hr-HR" sz="1200" spc="-35" noProof="0" dirty="0">
                <a:solidFill>
                  <a:srgbClr val="AAAAAA"/>
                </a:solidFill>
                <a:latin typeface="Trebuchet MS"/>
                <a:cs typeface="Trebuchet MS"/>
              </a:rPr>
              <a:t> </a:t>
            </a:r>
            <a:r>
              <a:rPr lang="hr-HR" sz="1200" spc="-10" noProof="0" dirty="0">
                <a:solidFill>
                  <a:srgbClr val="AAAAAA"/>
                </a:solidFill>
                <a:latin typeface="Trebuchet MS"/>
                <a:cs typeface="Trebuchet MS"/>
              </a:rPr>
              <a:t>procesora.</a:t>
            </a:r>
            <a:endParaRPr lang="hr-HR" sz="1200" noProof="0" dirty="0">
              <a:latin typeface="Trebuchet MS"/>
              <a:cs typeface="Trebuchet MS"/>
            </a:endParaRPr>
          </a:p>
          <a:p>
            <a:pPr marL="89535">
              <a:lnSpc>
                <a:spcPct val="100000"/>
              </a:lnSpc>
              <a:spcBef>
                <a:spcPts val="860"/>
              </a:spcBef>
            </a:pPr>
            <a:r>
              <a:rPr lang="hr-HR" sz="1200" noProof="0" dirty="0">
                <a:solidFill>
                  <a:srgbClr val="AAAAAA"/>
                </a:solidFill>
                <a:latin typeface="Trebuchet MS"/>
                <a:cs typeface="Trebuchet MS"/>
              </a:rPr>
              <a:t>Osnova</a:t>
            </a:r>
            <a:r>
              <a:rPr lang="hr-HR" sz="1200" spc="15" noProof="0" dirty="0">
                <a:solidFill>
                  <a:srgbClr val="AAAAAA"/>
                </a:solidFill>
                <a:latin typeface="Trebuchet MS"/>
                <a:cs typeface="Trebuchet MS"/>
              </a:rPr>
              <a:t> </a:t>
            </a:r>
            <a:r>
              <a:rPr lang="hr-HR" sz="1200" noProof="0" dirty="0">
                <a:solidFill>
                  <a:srgbClr val="AAAAAA"/>
                </a:solidFill>
                <a:latin typeface="Trebuchet MS"/>
                <a:cs typeface="Trebuchet MS"/>
              </a:rPr>
              <a:t>za</a:t>
            </a:r>
            <a:r>
              <a:rPr lang="hr-HR" sz="1200" spc="20" noProof="0" dirty="0">
                <a:solidFill>
                  <a:srgbClr val="AAAAAA"/>
                </a:solidFill>
                <a:latin typeface="Trebuchet MS"/>
                <a:cs typeface="Trebuchet MS"/>
              </a:rPr>
              <a:t> </a:t>
            </a:r>
            <a:r>
              <a:rPr lang="hr-HR" sz="1200" noProof="0" dirty="0">
                <a:solidFill>
                  <a:srgbClr val="AAAAAA"/>
                </a:solidFill>
                <a:latin typeface="Trebuchet MS"/>
                <a:cs typeface="Trebuchet MS"/>
              </a:rPr>
              <a:t>moderne</a:t>
            </a:r>
            <a:r>
              <a:rPr lang="hr-HR" sz="1200" spc="20" noProof="0" dirty="0">
                <a:solidFill>
                  <a:srgbClr val="AAAAAA"/>
                </a:solidFill>
                <a:latin typeface="Trebuchet MS"/>
                <a:cs typeface="Trebuchet MS"/>
              </a:rPr>
              <a:t> </a:t>
            </a:r>
            <a:r>
              <a:rPr lang="hr-HR" sz="1200" spc="-10" noProof="0" dirty="0">
                <a:solidFill>
                  <a:srgbClr val="AAAAAA"/>
                </a:solidFill>
                <a:latin typeface="Trebuchet MS"/>
                <a:cs typeface="Trebuchet MS"/>
              </a:rPr>
              <a:t>memorije.</a:t>
            </a:r>
            <a:endParaRPr lang="hr-HR" sz="1200" noProof="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59352" y="3775671"/>
            <a:ext cx="43116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z="1650" b="1" spc="-25" noProof="0" dirty="0">
                <a:solidFill>
                  <a:srgbClr val="FFFFFF"/>
                </a:solidFill>
                <a:latin typeface="Trebuchet MS"/>
                <a:cs typeface="Trebuchet MS"/>
              </a:rPr>
              <a:t>DDR</a:t>
            </a:r>
            <a:endParaRPr lang="hr-HR" sz="1650" noProof="0" dirty="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45856" y="4187533"/>
            <a:ext cx="2258060" cy="793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hr-HR" sz="1200" spc="-10" noProof="0" dirty="0" err="1">
                <a:solidFill>
                  <a:srgbClr val="AAAAAA"/>
                </a:solidFill>
                <a:latin typeface="Trebuchet MS"/>
                <a:cs typeface="Trebuchet MS"/>
              </a:rPr>
              <a:t>Double</a:t>
            </a:r>
            <a:r>
              <a:rPr lang="hr-HR" sz="1200" spc="-25" noProof="0" dirty="0">
                <a:solidFill>
                  <a:srgbClr val="AAAAAA"/>
                </a:solidFill>
                <a:latin typeface="Trebuchet MS"/>
                <a:cs typeface="Trebuchet MS"/>
              </a:rPr>
              <a:t> </a:t>
            </a:r>
            <a:r>
              <a:rPr lang="hr-HR" sz="1200" noProof="0" dirty="0">
                <a:solidFill>
                  <a:srgbClr val="AAAAAA"/>
                </a:solidFill>
                <a:latin typeface="Trebuchet MS"/>
                <a:cs typeface="Trebuchet MS"/>
              </a:rPr>
              <a:t>Data</a:t>
            </a:r>
            <a:r>
              <a:rPr lang="hr-HR" sz="1200" spc="-25" noProof="0" dirty="0">
                <a:solidFill>
                  <a:srgbClr val="AAAAAA"/>
                </a:solidFill>
                <a:latin typeface="Trebuchet MS"/>
                <a:cs typeface="Trebuchet MS"/>
              </a:rPr>
              <a:t> </a:t>
            </a:r>
            <a:r>
              <a:rPr lang="hr-HR" sz="1200" spc="-60" noProof="0" dirty="0">
                <a:solidFill>
                  <a:srgbClr val="AAAAAA"/>
                </a:solidFill>
                <a:latin typeface="Trebuchet MS"/>
                <a:cs typeface="Trebuchet MS"/>
              </a:rPr>
              <a:t>Rate.</a:t>
            </a:r>
            <a:r>
              <a:rPr lang="hr-HR" sz="1200" spc="-25" noProof="0" dirty="0">
                <a:solidFill>
                  <a:srgbClr val="AAAAAA"/>
                </a:solidFill>
                <a:latin typeface="Trebuchet MS"/>
                <a:cs typeface="Trebuchet MS"/>
              </a:rPr>
              <a:t> </a:t>
            </a:r>
            <a:r>
              <a:rPr lang="hr-HR" sz="1200" spc="-10" noProof="0" dirty="0">
                <a:solidFill>
                  <a:srgbClr val="AAAAAA"/>
                </a:solidFill>
                <a:latin typeface="Trebuchet MS"/>
                <a:cs typeface="Trebuchet MS"/>
              </a:rPr>
              <a:t>Prijenos</a:t>
            </a:r>
            <a:endParaRPr lang="hr-HR" sz="1200" noProof="0" dirty="0">
              <a:latin typeface="Trebuchet MS"/>
              <a:cs typeface="Trebuchet MS"/>
            </a:endParaRPr>
          </a:p>
          <a:p>
            <a:pPr marL="12700" marR="5080" algn="ctr">
              <a:lnSpc>
                <a:spcPct val="160000"/>
              </a:lnSpc>
            </a:pPr>
            <a:r>
              <a:rPr lang="hr-HR" sz="1200" noProof="0" dirty="0">
                <a:solidFill>
                  <a:srgbClr val="AAAAAA"/>
                </a:solidFill>
                <a:latin typeface="Trebuchet MS"/>
                <a:cs typeface="Trebuchet MS"/>
              </a:rPr>
              <a:t>podataka</a:t>
            </a:r>
            <a:r>
              <a:rPr lang="hr-HR" sz="1200" spc="-25" noProof="0" dirty="0">
                <a:solidFill>
                  <a:srgbClr val="AAAAAA"/>
                </a:solidFill>
                <a:latin typeface="Trebuchet MS"/>
                <a:cs typeface="Trebuchet MS"/>
              </a:rPr>
              <a:t> </a:t>
            </a:r>
            <a:r>
              <a:rPr lang="hr-HR" sz="1200" noProof="0" dirty="0">
                <a:solidFill>
                  <a:srgbClr val="AAAAAA"/>
                </a:solidFill>
                <a:latin typeface="Trebuchet MS"/>
                <a:cs typeface="Trebuchet MS"/>
              </a:rPr>
              <a:t>na</a:t>
            </a:r>
            <a:r>
              <a:rPr lang="hr-HR" sz="1200" spc="-25" noProof="0" dirty="0">
                <a:solidFill>
                  <a:srgbClr val="AAAAAA"/>
                </a:solidFill>
                <a:latin typeface="Trebuchet MS"/>
                <a:cs typeface="Trebuchet MS"/>
              </a:rPr>
              <a:t> </a:t>
            </a:r>
            <a:r>
              <a:rPr lang="hr-HR" sz="1200" noProof="0" dirty="0">
                <a:solidFill>
                  <a:srgbClr val="AAAAAA"/>
                </a:solidFill>
                <a:latin typeface="Trebuchet MS"/>
                <a:cs typeface="Trebuchet MS"/>
              </a:rPr>
              <a:t>uzlaznom</a:t>
            </a:r>
            <a:r>
              <a:rPr lang="hr-HR" sz="1200" spc="-20" noProof="0" dirty="0">
                <a:solidFill>
                  <a:srgbClr val="AAAAAA"/>
                </a:solidFill>
                <a:latin typeface="Trebuchet MS"/>
                <a:cs typeface="Trebuchet MS"/>
              </a:rPr>
              <a:t> </a:t>
            </a:r>
            <a:r>
              <a:rPr lang="hr-HR" sz="1200" spc="-120" noProof="0" dirty="0">
                <a:solidFill>
                  <a:srgbClr val="AAAAAA"/>
                </a:solidFill>
                <a:latin typeface="Trebuchet MS"/>
                <a:cs typeface="Trebuchet MS"/>
              </a:rPr>
              <a:t>i</a:t>
            </a:r>
            <a:r>
              <a:rPr lang="hr-HR" sz="1200" spc="-25" noProof="0" dirty="0">
                <a:solidFill>
                  <a:srgbClr val="AAAAAA"/>
                </a:solidFill>
                <a:latin typeface="Trebuchet MS"/>
                <a:cs typeface="Trebuchet MS"/>
              </a:rPr>
              <a:t> </a:t>
            </a:r>
            <a:r>
              <a:rPr lang="hr-HR" sz="1200" spc="-10" noProof="0" dirty="0">
                <a:solidFill>
                  <a:srgbClr val="AAAAAA"/>
                </a:solidFill>
                <a:latin typeface="Trebuchet MS"/>
                <a:cs typeface="Trebuchet MS"/>
              </a:rPr>
              <a:t>silaznom bridu.</a:t>
            </a:r>
            <a:endParaRPr lang="hr-HR" sz="1200" noProof="0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48701" y="3775671"/>
            <a:ext cx="53784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z="1650" b="1" spc="-20" noProof="0" dirty="0">
                <a:solidFill>
                  <a:srgbClr val="FFFFFF"/>
                </a:solidFill>
                <a:latin typeface="Trebuchet MS"/>
                <a:cs typeface="Trebuchet MS"/>
              </a:rPr>
              <a:t>DDR3</a:t>
            </a:r>
            <a:endParaRPr lang="hr-HR" sz="1650" noProof="0" dirty="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42680" y="4187533"/>
            <a:ext cx="1949450" cy="501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hr-HR" sz="1200" noProof="0" dirty="0">
                <a:solidFill>
                  <a:srgbClr val="AAAAAA"/>
                </a:solidFill>
                <a:latin typeface="Trebuchet MS"/>
                <a:cs typeface="Trebuchet MS"/>
              </a:rPr>
              <a:t>Veće</a:t>
            </a:r>
            <a:r>
              <a:rPr lang="hr-HR" sz="1200" spc="-45" noProof="0" dirty="0">
                <a:solidFill>
                  <a:srgbClr val="AAAAAA"/>
                </a:solidFill>
                <a:latin typeface="Trebuchet MS"/>
                <a:cs typeface="Trebuchet MS"/>
              </a:rPr>
              <a:t> </a:t>
            </a:r>
            <a:r>
              <a:rPr lang="hr-HR" sz="1200" spc="-50" noProof="0" dirty="0">
                <a:solidFill>
                  <a:srgbClr val="AAAAAA"/>
                </a:solidFill>
                <a:latin typeface="Trebuchet MS"/>
                <a:cs typeface="Trebuchet MS"/>
              </a:rPr>
              <a:t>brzine,</a:t>
            </a:r>
            <a:r>
              <a:rPr lang="hr-HR" sz="1200" spc="-45" noProof="0" dirty="0">
                <a:solidFill>
                  <a:srgbClr val="AAAAAA"/>
                </a:solidFill>
                <a:latin typeface="Trebuchet MS"/>
                <a:cs typeface="Trebuchet MS"/>
              </a:rPr>
              <a:t> </a:t>
            </a:r>
            <a:r>
              <a:rPr lang="hr-HR" sz="1200" spc="-55" noProof="0" dirty="0">
                <a:solidFill>
                  <a:srgbClr val="AAAAAA"/>
                </a:solidFill>
                <a:latin typeface="Trebuchet MS"/>
                <a:cs typeface="Trebuchet MS"/>
              </a:rPr>
              <a:t>niži</a:t>
            </a:r>
            <a:r>
              <a:rPr lang="hr-HR" sz="1200" spc="-45" noProof="0" dirty="0">
                <a:solidFill>
                  <a:srgbClr val="AAAAAA"/>
                </a:solidFill>
                <a:latin typeface="Trebuchet MS"/>
                <a:cs typeface="Trebuchet MS"/>
              </a:rPr>
              <a:t> </a:t>
            </a:r>
            <a:r>
              <a:rPr lang="hr-HR" sz="1200" spc="-25" noProof="0" dirty="0">
                <a:solidFill>
                  <a:srgbClr val="AAAAAA"/>
                </a:solidFill>
                <a:latin typeface="Trebuchet MS"/>
                <a:cs typeface="Trebuchet MS"/>
              </a:rPr>
              <a:t>napon,</a:t>
            </a:r>
            <a:r>
              <a:rPr lang="hr-HR" sz="1200" spc="-40" noProof="0" dirty="0">
                <a:solidFill>
                  <a:srgbClr val="AAAAAA"/>
                </a:solidFill>
                <a:latin typeface="Trebuchet MS"/>
                <a:cs typeface="Trebuchet MS"/>
              </a:rPr>
              <a:t> </a:t>
            </a:r>
            <a:r>
              <a:rPr lang="hr-HR" sz="1200" spc="-20" noProof="0" dirty="0">
                <a:solidFill>
                  <a:srgbClr val="AAAAAA"/>
                </a:solidFill>
                <a:latin typeface="Trebuchet MS"/>
                <a:cs typeface="Trebuchet MS"/>
              </a:rPr>
              <a:t>veća</a:t>
            </a:r>
            <a:endParaRPr lang="hr-HR" sz="1200" noProof="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860"/>
              </a:spcBef>
            </a:pPr>
            <a:r>
              <a:rPr lang="hr-HR" sz="1200" spc="-10" noProof="0" dirty="0">
                <a:solidFill>
                  <a:srgbClr val="AAAAAA"/>
                </a:solidFill>
                <a:latin typeface="Trebuchet MS"/>
                <a:cs typeface="Trebuchet MS"/>
              </a:rPr>
              <a:t>propusnost</a:t>
            </a:r>
            <a:r>
              <a:rPr lang="hr-HR" sz="1200" spc="-25" noProof="0" dirty="0">
                <a:solidFill>
                  <a:srgbClr val="AAAAAA"/>
                </a:solidFill>
                <a:latin typeface="Trebuchet MS"/>
                <a:cs typeface="Trebuchet MS"/>
              </a:rPr>
              <a:t> </a:t>
            </a:r>
            <a:r>
              <a:rPr lang="hr-HR" sz="1200" spc="-10" noProof="0" dirty="0">
                <a:solidFill>
                  <a:srgbClr val="AAAAAA"/>
                </a:solidFill>
                <a:latin typeface="Trebuchet MS"/>
                <a:cs typeface="Trebuchet MS"/>
              </a:rPr>
              <a:t>(</a:t>
            </a:r>
            <a:r>
              <a:rPr lang="hr-HR" sz="1200" spc="-10" noProof="0" dirty="0" err="1">
                <a:solidFill>
                  <a:srgbClr val="AAAAAA"/>
                </a:solidFill>
                <a:latin typeface="Trebuchet MS"/>
                <a:cs typeface="Trebuchet MS"/>
              </a:rPr>
              <a:t>bandwidth</a:t>
            </a:r>
            <a:r>
              <a:rPr lang="hr-HR" sz="1200" spc="-10" noProof="0" dirty="0">
                <a:solidFill>
                  <a:srgbClr val="AAAAAA"/>
                </a:solidFill>
                <a:latin typeface="Trebuchet MS"/>
                <a:cs typeface="Trebuchet MS"/>
              </a:rPr>
              <a:t>).</a:t>
            </a:r>
            <a:endParaRPr lang="hr-HR" sz="1200" noProof="0" dirty="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85040" y="3775671"/>
            <a:ext cx="55118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z="1650" b="1" spc="-20" noProof="0" dirty="0">
                <a:solidFill>
                  <a:srgbClr val="FFFFFF"/>
                </a:solidFill>
                <a:latin typeface="Trebuchet MS"/>
                <a:cs typeface="Trebuchet MS"/>
              </a:rPr>
              <a:t>DDR5</a:t>
            </a:r>
            <a:endParaRPr lang="hr-HR" sz="1650" noProof="0" dirty="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535089" y="4187533"/>
            <a:ext cx="2251075" cy="501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z="1200" spc="-70" noProof="0" dirty="0">
                <a:solidFill>
                  <a:srgbClr val="AAAAAA"/>
                </a:solidFill>
                <a:latin typeface="Trebuchet MS"/>
                <a:cs typeface="Trebuchet MS"/>
              </a:rPr>
              <a:t>Najnoviji</a:t>
            </a:r>
            <a:r>
              <a:rPr lang="hr-HR" sz="1200" spc="30" noProof="0" dirty="0">
                <a:solidFill>
                  <a:srgbClr val="AAAAAA"/>
                </a:solidFill>
                <a:latin typeface="Trebuchet MS"/>
                <a:cs typeface="Trebuchet MS"/>
              </a:rPr>
              <a:t> </a:t>
            </a:r>
            <a:r>
              <a:rPr lang="hr-HR" sz="1200" spc="-20" noProof="0" dirty="0">
                <a:solidFill>
                  <a:srgbClr val="AAAAAA"/>
                </a:solidFill>
                <a:latin typeface="Trebuchet MS"/>
                <a:cs typeface="Trebuchet MS"/>
              </a:rPr>
              <a:t>standard.</a:t>
            </a:r>
            <a:r>
              <a:rPr lang="hr-HR" sz="1200" spc="35" noProof="0" dirty="0">
                <a:solidFill>
                  <a:srgbClr val="AAAAAA"/>
                </a:solidFill>
                <a:latin typeface="Trebuchet MS"/>
                <a:cs typeface="Trebuchet MS"/>
              </a:rPr>
              <a:t> </a:t>
            </a:r>
            <a:r>
              <a:rPr lang="hr-HR" sz="1200" noProof="0" dirty="0">
                <a:solidFill>
                  <a:srgbClr val="AAAAAA"/>
                </a:solidFill>
                <a:latin typeface="Trebuchet MS"/>
                <a:cs typeface="Trebuchet MS"/>
              </a:rPr>
              <a:t>Ogroman</a:t>
            </a:r>
            <a:r>
              <a:rPr lang="hr-HR" sz="1200" spc="30" noProof="0" dirty="0">
                <a:solidFill>
                  <a:srgbClr val="AAAAAA"/>
                </a:solidFill>
                <a:latin typeface="Trebuchet MS"/>
                <a:cs typeface="Trebuchet MS"/>
              </a:rPr>
              <a:t> </a:t>
            </a:r>
            <a:r>
              <a:rPr lang="hr-HR" sz="1200" spc="-20" noProof="0" dirty="0">
                <a:solidFill>
                  <a:srgbClr val="AAAAAA"/>
                </a:solidFill>
                <a:latin typeface="Trebuchet MS"/>
                <a:cs typeface="Trebuchet MS"/>
              </a:rPr>
              <a:t>skok</a:t>
            </a:r>
            <a:endParaRPr lang="hr-HR" sz="1200" noProof="0" dirty="0">
              <a:latin typeface="Trebuchet MS"/>
              <a:cs typeface="Trebuchet MS"/>
            </a:endParaRPr>
          </a:p>
          <a:p>
            <a:pPr marL="13970">
              <a:lnSpc>
                <a:spcPct val="100000"/>
              </a:lnSpc>
              <a:spcBef>
                <a:spcPts val="860"/>
              </a:spcBef>
            </a:pPr>
            <a:r>
              <a:rPr lang="hr-HR" sz="1200" spc="-40" noProof="0" dirty="0">
                <a:solidFill>
                  <a:srgbClr val="AAAAAA"/>
                </a:solidFill>
                <a:latin typeface="Trebuchet MS"/>
                <a:cs typeface="Trebuchet MS"/>
              </a:rPr>
              <a:t>u</a:t>
            </a:r>
            <a:r>
              <a:rPr lang="hr-HR" sz="1200" spc="-55" noProof="0" dirty="0">
                <a:solidFill>
                  <a:srgbClr val="AAAAAA"/>
                </a:solidFill>
                <a:latin typeface="Trebuchet MS"/>
                <a:cs typeface="Trebuchet MS"/>
              </a:rPr>
              <a:t> </a:t>
            </a:r>
            <a:r>
              <a:rPr lang="hr-HR" sz="1200" spc="-35" noProof="0" dirty="0">
                <a:solidFill>
                  <a:srgbClr val="AAAAAA"/>
                </a:solidFill>
                <a:latin typeface="Trebuchet MS"/>
                <a:cs typeface="Trebuchet MS"/>
              </a:rPr>
              <a:t>brzini</a:t>
            </a:r>
            <a:r>
              <a:rPr lang="hr-HR" sz="1200" spc="-55" noProof="0" dirty="0">
                <a:solidFill>
                  <a:srgbClr val="AAAAAA"/>
                </a:solidFill>
                <a:latin typeface="Trebuchet MS"/>
                <a:cs typeface="Trebuchet MS"/>
              </a:rPr>
              <a:t> </a:t>
            </a:r>
            <a:r>
              <a:rPr lang="hr-HR" sz="1200" spc="-120" noProof="0" dirty="0">
                <a:solidFill>
                  <a:srgbClr val="AAAAAA"/>
                </a:solidFill>
                <a:latin typeface="Trebuchet MS"/>
                <a:cs typeface="Trebuchet MS"/>
              </a:rPr>
              <a:t>i</a:t>
            </a:r>
            <a:r>
              <a:rPr lang="hr-HR" sz="1200" spc="-55" noProof="0" dirty="0">
                <a:solidFill>
                  <a:srgbClr val="AAAAAA"/>
                </a:solidFill>
                <a:latin typeface="Trebuchet MS"/>
                <a:cs typeface="Trebuchet MS"/>
              </a:rPr>
              <a:t> </a:t>
            </a:r>
            <a:r>
              <a:rPr lang="hr-HR" sz="1200" spc="-30" noProof="0" dirty="0">
                <a:solidFill>
                  <a:srgbClr val="AAAAAA"/>
                </a:solidFill>
                <a:latin typeface="Trebuchet MS"/>
                <a:cs typeface="Trebuchet MS"/>
              </a:rPr>
              <a:t>energetskoj</a:t>
            </a:r>
            <a:r>
              <a:rPr lang="hr-HR" sz="1200" spc="-50" noProof="0" dirty="0">
                <a:solidFill>
                  <a:srgbClr val="AAAAAA"/>
                </a:solidFill>
                <a:latin typeface="Trebuchet MS"/>
                <a:cs typeface="Trebuchet MS"/>
              </a:rPr>
              <a:t> učinkovitosti.</a:t>
            </a:r>
            <a:endParaRPr lang="hr-HR" sz="1200" noProof="0" dirty="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pc="-125" noProof="0" dirty="0"/>
              <a:t>Porodice</a:t>
            </a:r>
            <a:r>
              <a:rPr lang="hr-HR" spc="-210" noProof="0" dirty="0"/>
              <a:t> </a:t>
            </a:r>
            <a:r>
              <a:rPr lang="hr-HR" spc="200" noProof="0" dirty="0"/>
              <a:t>DRAM</a:t>
            </a:r>
            <a:r>
              <a:rPr lang="hr-HR" spc="-210" noProof="0" dirty="0"/>
              <a:t> </a:t>
            </a:r>
            <a:r>
              <a:rPr lang="hr-HR" spc="-60" noProof="0" dirty="0"/>
              <a:t>Memorije</a:t>
            </a:r>
          </a:p>
        </p:txBody>
      </p:sp>
      <p:sp>
        <p:nvSpPr>
          <p:cNvPr id="16" name="object 16"/>
          <p:cNvSpPr/>
          <p:nvPr/>
        </p:nvSpPr>
        <p:spPr>
          <a:xfrm>
            <a:off x="390525" y="390525"/>
            <a:ext cx="47625" cy="552450"/>
          </a:xfrm>
          <a:custGeom>
            <a:avLst/>
            <a:gdLst/>
            <a:ahLst/>
            <a:cxnLst/>
            <a:rect l="l" t="t" r="r" b="b"/>
            <a:pathLst>
              <a:path w="47625" h="552450">
                <a:moveTo>
                  <a:pt x="47624" y="552449"/>
                </a:moveTo>
                <a:lnTo>
                  <a:pt x="0" y="552449"/>
                </a:lnTo>
                <a:lnTo>
                  <a:pt x="0" y="0"/>
                </a:lnTo>
                <a:lnTo>
                  <a:pt x="47624" y="0"/>
                </a:lnTo>
                <a:lnTo>
                  <a:pt x="47624" y="552449"/>
                </a:lnTo>
                <a:close/>
              </a:path>
            </a:pathLst>
          </a:custGeom>
          <a:solidFill>
            <a:srgbClr val="00FF88"/>
          </a:solidFill>
        </p:spPr>
        <p:txBody>
          <a:bodyPr wrap="square" lIns="0" tIns="0" rIns="0" bIns="0" rtlCol="0"/>
          <a:lstStyle/>
          <a:p>
            <a:endParaRPr lang="hr-HR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377825" y="2186432"/>
            <a:ext cx="5230495" cy="3194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z="2100" b="1" noProof="0" dirty="0">
                <a:solidFill>
                  <a:srgbClr val="00FF88"/>
                </a:solidFill>
                <a:latin typeface="Trebuchet MS"/>
                <a:cs typeface="Trebuchet MS"/>
              </a:rPr>
              <a:t>Magnetska</a:t>
            </a:r>
            <a:r>
              <a:rPr lang="hr-HR" sz="2100" b="1" spc="80" noProof="0" dirty="0">
                <a:solidFill>
                  <a:srgbClr val="00FF88"/>
                </a:solidFill>
                <a:latin typeface="Trebuchet MS"/>
                <a:cs typeface="Trebuchet MS"/>
              </a:rPr>
              <a:t> </a:t>
            </a:r>
            <a:r>
              <a:rPr lang="hr-HR" sz="2100" b="1" spc="-25" noProof="0" dirty="0">
                <a:solidFill>
                  <a:srgbClr val="00FF88"/>
                </a:solidFill>
                <a:latin typeface="Trebuchet MS"/>
                <a:cs typeface="Trebuchet MS"/>
              </a:rPr>
              <a:t>Diskovna</a:t>
            </a:r>
            <a:r>
              <a:rPr lang="hr-HR" sz="2100" b="1" spc="80" noProof="0" dirty="0">
                <a:solidFill>
                  <a:srgbClr val="00FF88"/>
                </a:solidFill>
                <a:latin typeface="Trebuchet MS"/>
                <a:cs typeface="Trebuchet MS"/>
              </a:rPr>
              <a:t> </a:t>
            </a:r>
            <a:r>
              <a:rPr lang="hr-HR" sz="2100" b="1" spc="-10" noProof="0" dirty="0">
                <a:solidFill>
                  <a:srgbClr val="00FF88"/>
                </a:solidFill>
                <a:latin typeface="Trebuchet MS"/>
                <a:cs typeface="Trebuchet MS"/>
              </a:rPr>
              <a:t>Memorija</a:t>
            </a:r>
            <a:endParaRPr lang="hr-HR" sz="2100" noProof="0" dirty="0">
              <a:latin typeface="Trebuchet MS"/>
              <a:cs typeface="Trebuchet MS"/>
            </a:endParaRPr>
          </a:p>
          <a:p>
            <a:pPr marL="12700" marR="396875">
              <a:lnSpc>
                <a:spcPct val="160000"/>
              </a:lnSpc>
              <a:spcBef>
                <a:spcPts val="470"/>
              </a:spcBef>
            </a:pP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Hard</a:t>
            </a:r>
            <a:r>
              <a:rPr lang="hr-HR" sz="1500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25" noProof="0" dirty="0">
                <a:solidFill>
                  <a:srgbClr val="CCCCCC"/>
                </a:solidFill>
                <a:latin typeface="Trebuchet MS"/>
                <a:cs typeface="Trebuchet MS"/>
              </a:rPr>
              <a:t>Disk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30" noProof="0" dirty="0" err="1">
                <a:solidFill>
                  <a:srgbClr val="CCCCCC"/>
                </a:solidFill>
                <a:latin typeface="Trebuchet MS"/>
                <a:cs typeface="Trebuchet MS"/>
              </a:rPr>
              <a:t>Drive</a:t>
            </a:r>
            <a:r>
              <a:rPr lang="hr-HR" sz="1500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20" noProof="0" dirty="0">
                <a:solidFill>
                  <a:srgbClr val="CCCCCC"/>
                </a:solidFill>
                <a:latin typeface="Trebuchet MS"/>
                <a:cs typeface="Trebuchet MS"/>
              </a:rPr>
              <a:t>(HDD)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10" noProof="0" dirty="0">
                <a:solidFill>
                  <a:srgbClr val="CCCCCC"/>
                </a:solidFill>
                <a:latin typeface="Trebuchet MS"/>
                <a:cs typeface="Trebuchet MS"/>
              </a:rPr>
              <a:t>je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45" noProof="0" dirty="0">
                <a:solidFill>
                  <a:srgbClr val="CCCCCC"/>
                </a:solidFill>
                <a:latin typeface="Trebuchet MS"/>
                <a:cs typeface="Trebuchet MS"/>
              </a:rPr>
              <a:t>elektromehanički</a:t>
            </a:r>
            <a:r>
              <a:rPr lang="hr-HR" sz="1500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ure</a:t>
            </a:r>
            <a:r>
              <a:rPr lang="hr-HR" sz="1500" spc="-55" noProof="0" dirty="0">
                <a:solidFill>
                  <a:srgbClr val="CCCCCC"/>
                </a:solidFill>
                <a:latin typeface="Microsoft Sans Serif"/>
                <a:cs typeface="Microsoft Sans Serif"/>
              </a:rPr>
              <a:t>đ</a:t>
            </a:r>
            <a:r>
              <a:rPr lang="hr-HR" sz="1500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aj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55" noProof="0" dirty="0">
                <a:solidFill>
                  <a:srgbClr val="CCCCCC"/>
                </a:solidFill>
                <a:latin typeface="Trebuchet MS"/>
                <a:cs typeface="Trebuchet MS"/>
              </a:rPr>
              <a:t>za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30" noProof="0" dirty="0">
                <a:solidFill>
                  <a:srgbClr val="CCCCCC"/>
                </a:solidFill>
                <a:latin typeface="Trebuchet MS"/>
                <a:cs typeface="Trebuchet MS"/>
              </a:rPr>
              <a:t>trajnu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pohranu.</a:t>
            </a:r>
            <a:endParaRPr lang="hr-HR" sz="1500" noProof="0" dirty="0">
              <a:latin typeface="Trebuchet MS"/>
              <a:cs typeface="Trebuchet MS"/>
            </a:endParaRPr>
          </a:p>
          <a:p>
            <a:pPr marL="298450">
              <a:lnSpc>
                <a:spcPct val="100000"/>
              </a:lnSpc>
              <a:spcBef>
                <a:spcPts val="1320"/>
              </a:spcBef>
            </a:pPr>
            <a:r>
              <a:rPr lang="hr-HR" sz="1500" b="1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Struktura:</a:t>
            </a:r>
            <a:r>
              <a:rPr lang="hr-HR" sz="1500" b="1" spc="-4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Magnetski</a:t>
            </a:r>
            <a:r>
              <a:rPr lang="hr-HR" sz="1500" spc="-4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pladnjevi,</a:t>
            </a:r>
            <a:r>
              <a:rPr lang="hr-HR" sz="1500" spc="-4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glave</a:t>
            </a:r>
            <a:r>
              <a:rPr lang="hr-HR" sz="1500" spc="-4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55" noProof="0" dirty="0">
                <a:solidFill>
                  <a:srgbClr val="CCCCCC"/>
                </a:solidFill>
                <a:latin typeface="Trebuchet MS"/>
                <a:cs typeface="Trebuchet MS"/>
              </a:rPr>
              <a:t>za</a:t>
            </a:r>
            <a:r>
              <a:rPr lang="hr-HR" sz="1500" spc="-4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čitanje/pisanje.</a:t>
            </a:r>
            <a:endParaRPr lang="hr-HR" sz="1500" noProof="0" dirty="0">
              <a:latin typeface="Trebuchet MS"/>
              <a:cs typeface="Trebuchet MS"/>
            </a:endParaRPr>
          </a:p>
          <a:p>
            <a:pPr marL="298450" marR="5080">
              <a:lnSpc>
                <a:spcPct val="160000"/>
              </a:lnSpc>
              <a:spcBef>
                <a:spcPts val="1019"/>
              </a:spcBef>
            </a:pPr>
            <a:r>
              <a:rPr lang="hr-HR" sz="1500" b="1" spc="-35" noProof="0" dirty="0">
                <a:solidFill>
                  <a:srgbClr val="CCCCCC"/>
                </a:solidFill>
                <a:latin typeface="Trebuchet MS"/>
                <a:cs typeface="Trebuchet MS"/>
              </a:rPr>
              <a:t>Organizacija:</a:t>
            </a:r>
            <a:r>
              <a:rPr lang="hr-HR" sz="1500" b="1" spc="-2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25" noProof="0" dirty="0">
                <a:solidFill>
                  <a:srgbClr val="CCCCCC"/>
                </a:solidFill>
                <a:latin typeface="Trebuchet MS"/>
                <a:cs typeface="Trebuchet MS"/>
              </a:rPr>
              <a:t>Podaci</a:t>
            </a:r>
            <a:r>
              <a:rPr lang="hr-HR" sz="1500" spc="-20" noProof="0" dirty="0">
                <a:solidFill>
                  <a:srgbClr val="CCCCCC"/>
                </a:solidFill>
                <a:latin typeface="Trebuchet MS"/>
                <a:cs typeface="Trebuchet MS"/>
              </a:rPr>
              <a:t> su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zapisani</a:t>
            </a:r>
            <a:r>
              <a:rPr lang="hr-HR" sz="1500" spc="-1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u</a:t>
            </a:r>
            <a:r>
              <a:rPr lang="hr-HR" sz="1500" spc="-2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45" noProof="0" dirty="0">
                <a:solidFill>
                  <a:srgbClr val="CCCCCC"/>
                </a:solidFill>
                <a:latin typeface="Trebuchet MS"/>
                <a:cs typeface="Trebuchet MS"/>
              </a:rPr>
              <a:t>koncentričnim</a:t>
            </a:r>
            <a:r>
              <a:rPr lang="hr-HR" sz="1500" spc="-2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stazama</a:t>
            </a:r>
            <a:r>
              <a:rPr lang="hr-HR" sz="1500" spc="-1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50" noProof="0" dirty="0">
                <a:solidFill>
                  <a:srgbClr val="CCCCCC"/>
                </a:solidFill>
                <a:latin typeface="Trebuchet MS"/>
                <a:cs typeface="Trebuchet MS"/>
              </a:rPr>
              <a:t>i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sektorima.</a:t>
            </a:r>
            <a:endParaRPr lang="hr-HR" sz="1500" noProof="0" dirty="0">
              <a:latin typeface="Trebuchet MS"/>
              <a:cs typeface="Trebuchet MS"/>
            </a:endParaRPr>
          </a:p>
          <a:p>
            <a:pPr marL="298450" marR="408305">
              <a:lnSpc>
                <a:spcPct val="160000"/>
              </a:lnSpc>
              <a:spcBef>
                <a:spcPts val="540"/>
              </a:spcBef>
            </a:pPr>
            <a:r>
              <a:rPr lang="hr-HR" sz="1500" b="1" spc="-40" noProof="0" dirty="0">
                <a:solidFill>
                  <a:srgbClr val="CCCCCC"/>
                </a:solidFill>
                <a:latin typeface="Trebuchet MS"/>
                <a:cs typeface="Trebuchet MS"/>
              </a:rPr>
              <a:t>Značajke:</a:t>
            </a:r>
            <a:r>
              <a:rPr lang="hr-HR" sz="1500" b="1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80" noProof="0" dirty="0">
                <a:solidFill>
                  <a:srgbClr val="CCCCCC"/>
                </a:solidFill>
                <a:latin typeface="Trebuchet MS"/>
                <a:cs typeface="Trebuchet MS"/>
              </a:rPr>
              <a:t>Veliki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kapacitet,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35" noProof="0" dirty="0">
                <a:solidFill>
                  <a:srgbClr val="CCCCCC"/>
                </a:solidFill>
                <a:latin typeface="Trebuchet MS"/>
                <a:cs typeface="Trebuchet MS"/>
              </a:rPr>
              <a:t>niska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cijena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po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GB,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ali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50" noProof="0" dirty="0">
                <a:solidFill>
                  <a:srgbClr val="CCCCCC"/>
                </a:solidFill>
                <a:latin typeface="Trebuchet MS"/>
                <a:cs typeface="Trebuchet MS"/>
              </a:rPr>
              <a:t>sporiji </a:t>
            </a:r>
            <a:r>
              <a:rPr lang="hr-HR" sz="1500" spc="-35" noProof="0" dirty="0">
                <a:solidFill>
                  <a:srgbClr val="CCCCCC"/>
                </a:solidFill>
                <a:latin typeface="Trebuchet MS"/>
                <a:cs typeface="Trebuchet MS"/>
              </a:rPr>
              <a:t>pristup</a:t>
            </a:r>
            <a:r>
              <a:rPr lang="hr-HR" sz="1500" spc="-7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60" noProof="0" dirty="0">
                <a:solidFill>
                  <a:srgbClr val="CCCCCC"/>
                </a:solidFill>
                <a:latin typeface="Trebuchet MS"/>
                <a:cs typeface="Trebuchet MS"/>
              </a:rPr>
              <a:t>zbog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30" noProof="0" dirty="0">
                <a:solidFill>
                  <a:srgbClr val="CCCCCC"/>
                </a:solidFill>
                <a:latin typeface="Trebuchet MS"/>
                <a:cs typeface="Trebuchet MS"/>
              </a:rPr>
              <a:t>mehaničkih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dijelova.</a:t>
            </a:r>
            <a:endParaRPr lang="hr-HR" sz="1500" noProof="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pc="-10" noProof="0" dirty="0"/>
              <a:t>Sekundarna</a:t>
            </a:r>
            <a:r>
              <a:rPr lang="hr-HR" spc="-225" noProof="0" dirty="0"/>
              <a:t> </a:t>
            </a:r>
            <a:r>
              <a:rPr lang="hr-HR" spc="-45" noProof="0" dirty="0"/>
              <a:t>Memorija</a:t>
            </a:r>
            <a:r>
              <a:rPr lang="hr-HR" spc="-225" noProof="0" dirty="0"/>
              <a:t> </a:t>
            </a:r>
            <a:r>
              <a:rPr lang="hr-HR" spc="-10" noProof="0" dirty="0"/>
              <a:t>(HDD)</a:t>
            </a:r>
          </a:p>
        </p:txBody>
      </p:sp>
      <p:sp>
        <p:nvSpPr>
          <p:cNvPr id="7" name="object 7"/>
          <p:cNvSpPr/>
          <p:nvPr/>
        </p:nvSpPr>
        <p:spPr>
          <a:xfrm>
            <a:off x="390525" y="390525"/>
            <a:ext cx="47625" cy="552450"/>
          </a:xfrm>
          <a:custGeom>
            <a:avLst/>
            <a:gdLst/>
            <a:ahLst/>
            <a:cxnLst/>
            <a:rect l="l" t="t" r="r" b="b"/>
            <a:pathLst>
              <a:path w="47625" h="552450">
                <a:moveTo>
                  <a:pt x="47624" y="552449"/>
                </a:moveTo>
                <a:lnTo>
                  <a:pt x="0" y="552449"/>
                </a:lnTo>
                <a:lnTo>
                  <a:pt x="0" y="0"/>
                </a:lnTo>
                <a:lnTo>
                  <a:pt x="47624" y="0"/>
                </a:lnTo>
                <a:lnTo>
                  <a:pt x="47624" y="552449"/>
                </a:lnTo>
                <a:close/>
              </a:path>
            </a:pathLst>
          </a:custGeom>
          <a:solidFill>
            <a:srgbClr val="00FF88"/>
          </a:solidFill>
        </p:spPr>
        <p:txBody>
          <a:bodyPr wrap="square" lIns="0" tIns="0" rIns="0" bIns="0" rtlCol="0"/>
          <a:lstStyle/>
          <a:p>
            <a:endParaRPr lang="hr-HR" noProof="0" dirty="0"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525" y="3505200"/>
            <a:ext cx="95249" cy="1523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525" y="4000500"/>
            <a:ext cx="95249" cy="1523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525" y="4800600"/>
            <a:ext cx="95249" cy="15239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C2BA0FE-2BEE-32C4-0973-08D4AC324F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4135" y="1793049"/>
            <a:ext cx="5314950" cy="398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525" y="2566987"/>
            <a:ext cx="5419724" cy="26574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81750" y="2566987"/>
            <a:ext cx="5419724" cy="26574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8350" y="2934144"/>
            <a:ext cx="4434840" cy="1503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z="2100" b="1" noProof="0" dirty="0">
                <a:solidFill>
                  <a:srgbClr val="00FF88"/>
                </a:solidFill>
                <a:latin typeface="Trebuchet MS"/>
                <a:cs typeface="Trebuchet MS"/>
              </a:rPr>
              <a:t>Što</a:t>
            </a:r>
            <a:r>
              <a:rPr lang="hr-HR" sz="2100" b="1" spc="-90" noProof="0" dirty="0">
                <a:solidFill>
                  <a:srgbClr val="00FF88"/>
                </a:solidFill>
                <a:latin typeface="Trebuchet MS"/>
                <a:cs typeface="Trebuchet MS"/>
              </a:rPr>
              <a:t> </a:t>
            </a:r>
            <a:r>
              <a:rPr lang="hr-HR" sz="2100" b="1" spc="-180" noProof="0" dirty="0">
                <a:solidFill>
                  <a:srgbClr val="00FF88"/>
                </a:solidFill>
                <a:latin typeface="Trebuchet MS"/>
                <a:cs typeface="Trebuchet MS"/>
              </a:rPr>
              <a:t>je</a:t>
            </a:r>
            <a:r>
              <a:rPr lang="hr-HR" sz="2100" b="1" spc="-85" noProof="0" dirty="0">
                <a:solidFill>
                  <a:srgbClr val="00FF88"/>
                </a:solidFill>
                <a:latin typeface="Trebuchet MS"/>
                <a:cs typeface="Trebuchet MS"/>
              </a:rPr>
              <a:t> </a:t>
            </a:r>
            <a:r>
              <a:rPr lang="hr-HR" sz="2100" b="1" spc="-25" noProof="0" dirty="0">
                <a:solidFill>
                  <a:srgbClr val="00FF88"/>
                </a:solidFill>
                <a:latin typeface="Trebuchet MS"/>
                <a:cs typeface="Trebuchet MS"/>
              </a:rPr>
              <a:t>to?</a:t>
            </a:r>
            <a:endParaRPr lang="hr-HR" sz="2100" noProof="0" dirty="0">
              <a:latin typeface="Trebuchet MS"/>
              <a:cs typeface="Trebuchet MS"/>
            </a:endParaRPr>
          </a:p>
          <a:p>
            <a:pPr marL="12700" marR="5080">
              <a:lnSpc>
                <a:spcPct val="160000"/>
              </a:lnSpc>
              <a:spcBef>
                <a:spcPts val="470"/>
              </a:spcBef>
            </a:pP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Poznata</a:t>
            </a:r>
            <a:r>
              <a:rPr lang="hr-HR" sz="1500" spc="-8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50" noProof="0" dirty="0">
                <a:solidFill>
                  <a:srgbClr val="CCCCCC"/>
                </a:solidFill>
                <a:latin typeface="Trebuchet MS"/>
                <a:cs typeface="Trebuchet MS"/>
              </a:rPr>
              <a:t>i</a:t>
            </a:r>
            <a:r>
              <a:rPr lang="hr-HR" sz="1500" spc="-7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kao</a:t>
            </a:r>
            <a:r>
              <a:rPr lang="hr-HR" sz="1500" spc="-8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b="1" spc="-30" noProof="0" dirty="0">
                <a:solidFill>
                  <a:srgbClr val="CCCCCC"/>
                </a:solidFill>
                <a:latin typeface="Trebuchet MS"/>
                <a:cs typeface="Trebuchet MS"/>
              </a:rPr>
              <a:t>Disk</a:t>
            </a:r>
            <a:r>
              <a:rPr lang="hr-HR" sz="1500" b="1" spc="-8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b="1" noProof="0" dirty="0" err="1">
                <a:solidFill>
                  <a:srgbClr val="CCCCCC"/>
                </a:solidFill>
                <a:latin typeface="Trebuchet MS"/>
                <a:cs typeface="Trebuchet MS"/>
              </a:rPr>
              <a:t>Cache</a:t>
            </a:r>
            <a:r>
              <a:rPr lang="hr-HR" sz="1500" b="1" spc="-8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45" noProof="0" dirty="0">
                <a:solidFill>
                  <a:srgbClr val="CCCCCC"/>
                </a:solidFill>
                <a:latin typeface="Trebuchet MS"/>
                <a:cs typeface="Trebuchet MS"/>
              </a:rPr>
              <a:t>ili</a:t>
            </a:r>
            <a:r>
              <a:rPr lang="hr-HR" sz="1500" spc="-7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75" noProof="0" dirty="0" err="1">
                <a:solidFill>
                  <a:srgbClr val="CCCCCC"/>
                </a:solidFill>
                <a:latin typeface="Trebuchet MS"/>
                <a:cs typeface="Trebuchet MS"/>
              </a:rPr>
              <a:t>buffer</a:t>
            </a:r>
            <a:r>
              <a:rPr lang="hr-HR" sz="1500" spc="-75" noProof="0" dirty="0">
                <a:solidFill>
                  <a:srgbClr val="CCCCCC"/>
                </a:solidFill>
                <a:latin typeface="Trebuchet MS"/>
                <a:cs typeface="Trebuchet MS"/>
              </a:rPr>
              <a:t>.</a:t>
            </a:r>
            <a:r>
              <a:rPr lang="hr-HR" sz="1500" spc="-8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To</a:t>
            </a:r>
            <a:r>
              <a:rPr lang="hr-HR" sz="1500" spc="-7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10" noProof="0" dirty="0">
                <a:solidFill>
                  <a:srgbClr val="CCCCCC"/>
                </a:solidFill>
                <a:latin typeface="Trebuchet MS"/>
                <a:cs typeface="Trebuchet MS"/>
              </a:rPr>
              <a:t>je</a:t>
            </a:r>
            <a:r>
              <a:rPr lang="hr-HR" sz="1500" spc="-7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mala</a:t>
            </a:r>
            <a:r>
              <a:rPr lang="hr-HR" sz="1500" spc="-8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40" noProof="0" dirty="0">
                <a:solidFill>
                  <a:srgbClr val="CCCCCC"/>
                </a:solidFill>
                <a:latin typeface="Trebuchet MS"/>
                <a:cs typeface="Trebuchet MS"/>
              </a:rPr>
              <a:t>količina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brze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80" noProof="0" dirty="0">
                <a:solidFill>
                  <a:srgbClr val="CCCCCC"/>
                </a:solidFill>
                <a:latin typeface="Trebuchet MS"/>
                <a:cs typeface="Trebuchet MS"/>
              </a:rPr>
              <a:t>RAM</a:t>
            </a:r>
            <a:r>
              <a:rPr lang="hr-HR" sz="1500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40" noProof="0" dirty="0">
                <a:solidFill>
                  <a:srgbClr val="CCCCCC"/>
                </a:solidFill>
                <a:latin typeface="Trebuchet MS"/>
                <a:cs typeface="Trebuchet MS"/>
              </a:rPr>
              <a:t>memorije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ugra</a:t>
            </a:r>
            <a:r>
              <a:rPr lang="hr-HR" sz="1500" noProof="0" dirty="0">
                <a:solidFill>
                  <a:srgbClr val="CCCCCC"/>
                </a:solidFill>
                <a:latin typeface="Microsoft Sans Serif"/>
                <a:cs typeface="Microsoft Sans Serif"/>
              </a:rPr>
              <a:t>đ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ene</a:t>
            </a:r>
            <a:r>
              <a:rPr lang="hr-HR" sz="1500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na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55" noProof="0" dirty="0">
                <a:solidFill>
                  <a:srgbClr val="CCCCCC"/>
                </a:solidFill>
                <a:latin typeface="Trebuchet MS"/>
                <a:cs typeface="Trebuchet MS"/>
              </a:rPr>
              <a:t>sam</a:t>
            </a:r>
            <a:r>
              <a:rPr lang="hr-HR" sz="1500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tvrdi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25" noProof="0" dirty="0">
                <a:solidFill>
                  <a:srgbClr val="CCCCCC"/>
                </a:solidFill>
                <a:latin typeface="Trebuchet MS"/>
                <a:cs typeface="Trebuchet MS"/>
              </a:rPr>
              <a:t>disk</a:t>
            </a:r>
            <a:r>
              <a:rPr lang="hr-HR" sz="1500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25" noProof="0" dirty="0">
                <a:solidFill>
                  <a:srgbClr val="CCCCCC"/>
                </a:solidFill>
                <a:latin typeface="Trebuchet MS"/>
                <a:cs typeface="Trebuchet MS"/>
              </a:rPr>
              <a:t>ili </a:t>
            </a:r>
            <a:r>
              <a:rPr lang="hr-HR" sz="1500" spc="-30" noProof="0" dirty="0">
                <a:solidFill>
                  <a:srgbClr val="CCCCCC"/>
                </a:solidFill>
                <a:latin typeface="Trebuchet MS"/>
                <a:cs typeface="Trebuchet MS"/>
              </a:rPr>
              <a:t>alocirane</a:t>
            </a:r>
            <a:r>
              <a:rPr lang="hr-HR" sz="1500" spc="-7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u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40" noProof="0" dirty="0">
                <a:solidFill>
                  <a:srgbClr val="CCCCCC"/>
                </a:solidFill>
                <a:latin typeface="Trebuchet MS"/>
                <a:cs typeface="Trebuchet MS"/>
              </a:rPr>
              <a:t>radnoj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60" noProof="0" dirty="0">
                <a:solidFill>
                  <a:srgbClr val="CCCCCC"/>
                </a:solidFill>
                <a:latin typeface="Trebuchet MS"/>
                <a:cs typeface="Trebuchet MS"/>
              </a:rPr>
              <a:t>memoriji</a:t>
            </a:r>
            <a:r>
              <a:rPr lang="hr-HR" sz="1500" spc="-7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sustava.</a:t>
            </a:r>
            <a:endParaRPr lang="hr-HR" sz="1500" noProof="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59575" y="2934144"/>
            <a:ext cx="4638675" cy="1503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z="2100" b="1" spc="-10" noProof="0" dirty="0">
                <a:solidFill>
                  <a:srgbClr val="00FF88"/>
                </a:solidFill>
                <a:latin typeface="Trebuchet MS"/>
                <a:cs typeface="Trebuchet MS"/>
              </a:rPr>
              <a:t>Funkcija</a:t>
            </a:r>
            <a:endParaRPr lang="hr-HR" sz="2100" noProof="0" dirty="0">
              <a:latin typeface="Trebuchet MS"/>
              <a:cs typeface="Trebuchet MS"/>
            </a:endParaRPr>
          </a:p>
          <a:p>
            <a:pPr marL="12700" marR="5080">
              <a:lnSpc>
                <a:spcPct val="160000"/>
              </a:lnSpc>
              <a:spcBef>
                <a:spcPts val="470"/>
              </a:spcBef>
            </a:pPr>
            <a:r>
              <a:rPr lang="hr-HR" sz="1500" spc="-30" noProof="0" dirty="0">
                <a:solidFill>
                  <a:srgbClr val="CCCCCC"/>
                </a:solidFill>
                <a:latin typeface="Trebuchet MS"/>
                <a:cs typeface="Trebuchet MS"/>
              </a:rPr>
              <a:t>Služi</a:t>
            </a:r>
            <a:r>
              <a:rPr lang="hr-HR" sz="1500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55" noProof="0" dirty="0">
                <a:solidFill>
                  <a:srgbClr val="CCCCCC"/>
                </a:solidFill>
                <a:latin typeface="Trebuchet MS"/>
                <a:cs typeface="Trebuchet MS"/>
              </a:rPr>
              <a:t>za</a:t>
            </a:r>
            <a:r>
              <a:rPr lang="hr-HR" sz="1500" spc="-5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30" noProof="0" dirty="0">
                <a:solidFill>
                  <a:srgbClr val="CCCCCC"/>
                </a:solidFill>
                <a:latin typeface="Trebuchet MS"/>
                <a:cs typeface="Trebuchet MS"/>
              </a:rPr>
              <a:t>privremenu</a:t>
            </a:r>
            <a:r>
              <a:rPr lang="hr-HR" sz="1500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pohranu</a:t>
            </a:r>
            <a:r>
              <a:rPr lang="hr-HR" sz="1500" spc="-5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podataka</a:t>
            </a:r>
            <a:r>
              <a:rPr lang="hr-HR" sz="1500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10" noProof="0" dirty="0">
                <a:solidFill>
                  <a:srgbClr val="CCCCCC"/>
                </a:solidFill>
                <a:latin typeface="Trebuchet MS"/>
                <a:cs typeface="Trebuchet MS"/>
              </a:rPr>
              <a:t>koji</a:t>
            </a:r>
            <a:r>
              <a:rPr lang="hr-HR" sz="1500" spc="-5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se</a:t>
            </a:r>
            <a:r>
              <a:rPr lang="hr-HR" sz="1500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često </a:t>
            </a:r>
            <a:r>
              <a:rPr lang="hr-HR" sz="1500" spc="-80" noProof="0" dirty="0">
                <a:solidFill>
                  <a:srgbClr val="CCCCCC"/>
                </a:solidFill>
                <a:latin typeface="Trebuchet MS"/>
                <a:cs typeface="Trebuchet MS"/>
              </a:rPr>
              <a:t>čitaju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45" noProof="0" dirty="0">
                <a:solidFill>
                  <a:srgbClr val="CCCCCC"/>
                </a:solidFill>
                <a:latin typeface="Trebuchet MS"/>
                <a:cs typeface="Trebuchet MS"/>
              </a:rPr>
              <a:t>ili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90" noProof="0" dirty="0">
                <a:solidFill>
                  <a:srgbClr val="CCCCCC"/>
                </a:solidFill>
                <a:latin typeface="Trebuchet MS"/>
                <a:cs typeface="Trebuchet MS"/>
              </a:rPr>
              <a:t>pišu.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25" noProof="0" dirty="0">
                <a:solidFill>
                  <a:srgbClr val="CCCCCC"/>
                </a:solidFill>
                <a:latin typeface="Trebuchet MS"/>
                <a:cs typeface="Trebuchet MS"/>
              </a:rPr>
              <a:t>Time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se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maskira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sporost</a:t>
            </a:r>
            <a:r>
              <a:rPr lang="hr-HR" sz="1500" spc="-7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mehaničkog</a:t>
            </a:r>
            <a:r>
              <a:rPr lang="hr-HR" sz="1500" spc="-8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diska </a:t>
            </a:r>
            <a:r>
              <a:rPr lang="hr-HR" sz="1500" spc="-150" noProof="0" dirty="0">
                <a:solidFill>
                  <a:srgbClr val="CCCCCC"/>
                </a:solidFill>
                <a:latin typeface="Trebuchet MS"/>
                <a:cs typeface="Trebuchet MS"/>
              </a:rPr>
              <a:t>i</a:t>
            </a:r>
            <a:r>
              <a:rPr lang="hr-HR" sz="1500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značajno</a:t>
            </a:r>
            <a:r>
              <a:rPr lang="hr-HR" sz="1500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ubrzava</a:t>
            </a:r>
            <a:r>
              <a:rPr lang="hr-HR" sz="1500" spc="-5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rad</a:t>
            </a:r>
            <a:r>
              <a:rPr lang="hr-HR" sz="1500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noProof="0" dirty="0">
                <a:solidFill>
                  <a:srgbClr val="CCCCCC"/>
                </a:solidFill>
                <a:latin typeface="Trebuchet MS"/>
                <a:cs typeface="Trebuchet MS"/>
              </a:rPr>
              <a:t>sustava</a:t>
            </a:r>
            <a:r>
              <a:rPr lang="hr-HR" sz="1500" spc="-55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65" noProof="0" dirty="0">
                <a:solidFill>
                  <a:srgbClr val="CCCCCC"/>
                </a:solidFill>
                <a:latin typeface="Trebuchet MS"/>
                <a:cs typeface="Trebuchet MS"/>
              </a:rPr>
              <a:t>smanjujući</a:t>
            </a:r>
            <a:r>
              <a:rPr lang="hr-HR" sz="1500" spc="-50" noProof="0" dirty="0">
                <a:solidFill>
                  <a:srgbClr val="CCCCCC"/>
                </a:solidFill>
                <a:latin typeface="Trebuchet MS"/>
                <a:cs typeface="Trebuchet MS"/>
              </a:rPr>
              <a:t> </a:t>
            </a:r>
            <a:r>
              <a:rPr lang="hr-HR" sz="1500" spc="-10" noProof="0" dirty="0">
                <a:solidFill>
                  <a:srgbClr val="CCCCCC"/>
                </a:solidFill>
                <a:latin typeface="Trebuchet MS"/>
                <a:cs typeface="Trebuchet MS"/>
              </a:rPr>
              <a:t>čekanje.</a:t>
            </a:r>
            <a:endParaRPr lang="hr-HR" sz="1500" noProof="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pc="-130" noProof="0" dirty="0"/>
              <a:t>Priručna</a:t>
            </a:r>
            <a:r>
              <a:rPr lang="hr-HR" spc="-215" noProof="0" dirty="0"/>
              <a:t> </a:t>
            </a:r>
            <a:r>
              <a:rPr lang="hr-HR" spc="-45" noProof="0" dirty="0"/>
              <a:t>Diskovna</a:t>
            </a:r>
            <a:r>
              <a:rPr lang="hr-HR" spc="-210" noProof="0" dirty="0"/>
              <a:t> </a:t>
            </a:r>
            <a:r>
              <a:rPr lang="hr-HR" spc="-10" noProof="0" dirty="0"/>
              <a:t>Memorija</a:t>
            </a:r>
          </a:p>
        </p:txBody>
      </p:sp>
      <p:sp>
        <p:nvSpPr>
          <p:cNvPr id="7" name="object 7"/>
          <p:cNvSpPr/>
          <p:nvPr/>
        </p:nvSpPr>
        <p:spPr>
          <a:xfrm>
            <a:off x="390525" y="390525"/>
            <a:ext cx="47625" cy="552450"/>
          </a:xfrm>
          <a:custGeom>
            <a:avLst/>
            <a:gdLst/>
            <a:ahLst/>
            <a:cxnLst/>
            <a:rect l="l" t="t" r="r" b="b"/>
            <a:pathLst>
              <a:path w="47625" h="552450">
                <a:moveTo>
                  <a:pt x="47624" y="552449"/>
                </a:moveTo>
                <a:lnTo>
                  <a:pt x="0" y="552449"/>
                </a:lnTo>
                <a:lnTo>
                  <a:pt x="0" y="0"/>
                </a:lnTo>
                <a:lnTo>
                  <a:pt x="47624" y="0"/>
                </a:lnTo>
                <a:lnTo>
                  <a:pt x="47624" y="552449"/>
                </a:lnTo>
                <a:close/>
              </a:path>
            </a:pathLst>
          </a:custGeom>
          <a:solidFill>
            <a:srgbClr val="00FF88"/>
          </a:solidFill>
        </p:spPr>
        <p:txBody>
          <a:bodyPr wrap="square" lIns="0" tIns="0" rIns="0" bIns="0" rtlCol="0"/>
          <a:lstStyle/>
          <a:p>
            <a:endParaRPr lang="hr-HR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48574" y="1990725"/>
            <a:ext cx="5086075" cy="3809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pc="-55" noProof="0" dirty="0"/>
              <a:t>Koriste </a:t>
            </a:r>
            <a:r>
              <a:rPr lang="hr-HR" spc="-30" noProof="0" dirty="0"/>
              <a:t>lasersku</a:t>
            </a:r>
            <a:r>
              <a:rPr lang="hr-HR" spc="-55" noProof="0" dirty="0"/>
              <a:t> </a:t>
            </a:r>
            <a:r>
              <a:rPr lang="hr-HR" spc="-25" noProof="0" dirty="0"/>
              <a:t>zraku</a:t>
            </a:r>
            <a:r>
              <a:rPr lang="hr-HR" spc="-55" noProof="0" dirty="0"/>
              <a:t> </a:t>
            </a:r>
            <a:r>
              <a:rPr lang="hr-HR" spc="55" noProof="0" dirty="0"/>
              <a:t>za</a:t>
            </a:r>
            <a:r>
              <a:rPr lang="hr-HR" spc="-50" noProof="0" dirty="0"/>
              <a:t> </a:t>
            </a:r>
            <a:r>
              <a:rPr lang="hr-HR" spc="-60" noProof="0" dirty="0"/>
              <a:t>čitanje</a:t>
            </a:r>
            <a:r>
              <a:rPr lang="hr-HR" spc="-55" noProof="0" dirty="0"/>
              <a:t> </a:t>
            </a:r>
            <a:r>
              <a:rPr lang="hr-HR" spc="-150" noProof="0" dirty="0"/>
              <a:t>i</a:t>
            </a:r>
            <a:r>
              <a:rPr lang="hr-HR" spc="-55" noProof="0" dirty="0"/>
              <a:t> </a:t>
            </a:r>
            <a:r>
              <a:rPr lang="hr-HR" spc="-40" noProof="0" dirty="0"/>
              <a:t>pisanje</a:t>
            </a:r>
            <a:r>
              <a:rPr lang="hr-HR" spc="-55" noProof="0" dirty="0"/>
              <a:t> </a:t>
            </a:r>
            <a:r>
              <a:rPr lang="hr-HR" noProof="0" dirty="0"/>
              <a:t>podataka</a:t>
            </a:r>
            <a:r>
              <a:rPr lang="hr-HR" spc="-50" noProof="0" dirty="0"/>
              <a:t> s</a:t>
            </a: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lang="hr-HR" spc="-55" noProof="0" dirty="0"/>
              <a:t>reflektirajućeg</a:t>
            </a:r>
            <a:r>
              <a:rPr lang="hr-HR" spc="-40" noProof="0" dirty="0"/>
              <a:t> </a:t>
            </a:r>
            <a:r>
              <a:rPr lang="hr-HR" spc="-55" noProof="0" dirty="0"/>
              <a:t>sloja</a:t>
            </a:r>
            <a:r>
              <a:rPr lang="hr-HR" spc="-40" noProof="0" dirty="0"/>
              <a:t> </a:t>
            </a:r>
            <a:r>
              <a:rPr lang="hr-HR" spc="-10" noProof="0" dirty="0"/>
              <a:t>diska.</a:t>
            </a:r>
          </a:p>
          <a:p>
            <a:pPr marL="298450" marR="580390">
              <a:lnSpc>
                <a:spcPct val="160000"/>
              </a:lnSpc>
              <a:spcBef>
                <a:spcPts val="240"/>
              </a:spcBef>
            </a:pPr>
            <a:r>
              <a:rPr lang="hr-HR" b="1" spc="65" noProof="0" dirty="0">
                <a:latin typeface="Trebuchet MS"/>
                <a:cs typeface="Trebuchet MS"/>
              </a:rPr>
              <a:t>CD-</a:t>
            </a:r>
            <a:r>
              <a:rPr lang="hr-HR" b="1" spc="110" noProof="0" dirty="0">
                <a:latin typeface="Trebuchet MS"/>
                <a:cs typeface="Trebuchet MS"/>
              </a:rPr>
              <a:t>ROM</a:t>
            </a:r>
            <a:r>
              <a:rPr lang="hr-HR" b="1" spc="-75" noProof="0" dirty="0">
                <a:latin typeface="Trebuchet MS"/>
                <a:cs typeface="Trebuchet MS"/>
              </a:rPr>
              <a:t> </a:t>
            </a:r>
            <a:r>
              <a:rPr lang="hr-HR" b="1" noProof="0" dirty="0">
                <a:latin typeface="Trebuchet MS"/>
                <a:cs typeface="Trebuchet MS"/>
              </a:rPr>
              <a:t>/</a:t>
            </a:r>
            <a:r>
              <a:rPr lang="hr-HR" b="1" spc="-70" noProof="0" dirty="0">
                <a:latin typeface="Trebuchet MS"/>
                <a:cs typeface="Trebuchet MS"/>
              </a:rPr>
              <a:t> </a:t>
            </a:r>
            <a:r>
              <a:rPr lang="hr-HR" b="1" spc="65" noProof="0" dirty="0">
                <a:latin typeface="Trebuchet MS"/>
                <a:cs typeface="Trebuchet MS"/>
              </a:rPr>
              <a:t>CD-</a:t>
            </a:r>
            <a:r>
              <a:rPr lang="hr-HR" b="1" spc="50" noProof="0" dirty="0">
                <a:latin typeface="Trebuchet MS"/>
                <a:cs typeface="Trebuchet MS"/>
              </a:rPr>
              <a:t>R</a:t>
            </a:r>
            <a:r>
              <a:rPr lang="hr-HR" b="1" spc="-70" noProof="0" dirty="0">
                <a:latin typeface="Trebuchet MS"/>
                <a:cs typeface="Trebuchet MS"/>
              </a:rPr>
              <a:t> </a:t>
            </a:r>
            <a:r>
              <a:rPr lang="hr-HR" b="1" noProof="0" dirty="0">
                <a:latin typeface="Trebuchet MS"/>
                <a:cs typeface="Trebuchet MS"/>
              </a:rPr>
              <a:t>/</a:t>
            </a:r>
            <a:r>
              <a:rPr lang="hr-HR" b="1" spc="-75" noProof="0" dirty="0">
                <a:latin typeface="Trebuchet MS"/>
                <a:cs typeface="Trebuchet MS"/>
              </a:rPr>
              <a:t> </a:t>
            </a:r>
            <a:r>
              <a:rPr lang="hr-HR" b="1" spc="65" noProof="0" dirty="0">
                <a:latin typeface="Trebuchet MS"/>
                <a:cs typeface="Trebuchet MS"/>
              </a:rPr>
              <a:t>CD-</a:t>
            </a:r>
            <a:r>
              <a:rPr lang="hr-HR" b="1" spc="-60" noProof="0" dirty="0">
                <a:latin typeface="Trebuchet MS"/>
                <a:cs typeface="Trebuchet MS"/>
              </a:rPr>
              <a:t>RW:</a:t>
            </a:r>
            <a:r>
              <a:rPr lang="hr-HR" b="1" spc="-65" noProof="0" dirty="0">
                <a:latin typeface="Trebuchet MS"/>
                <a:cs typeface="Trebuchet MS"/>
              </a:rPr>
              <a:t> </a:t>
            </a:r>
            <a:r>
              <a:rPr lang="hr-HR" spc="-35" noProof="0" dirty="0"/>
              <a:t>Kapacitet</a:t>
            </a:r>
            <a:r>
              <a:rPr lang="hr-HR" spc="-70" noProof="0" dirty="0"/>
              <a:t> </a:t>
            </a:r>
            <a:r>
              <a:rPr lang="hr-HR" spc="75" noProof="0" dirty="0"/>
              <a:t>~700</a:t>
            </a:r>
            <a:r>
              <a:rPr lang="hr-HR" spc="-75" noProof="0" dirty="0"/>
              <a:t> </a:t>
            </a:r>
            <a:r>
              <a:rPr lang="hr-HR" spc="-30" noProof="0" dirty="0"/>
              <a:t>MB.</a:t>
            </a:r>
            <a:r>
              <a:rPr lang="hr-HR" spc="-70" noProof="0" dirty="0"/>
              <a:t> </a:t>
            </a:r>
            <a:r>
              <a:rPr lang="hr-HR" spc="-50" noProof="0" dirty="0"/>
              <a:t>Koristi </a:t>
            </a:r>
            <a:r>
              <a:rPr lang="hr-HR" spc="-45" noProof="0" dirty="0"/>
              <a:t>infracrveni</a:t>
            </a:r>
            <a:r>
              <a:rPr lang="hr-HR" spc="-50" noProof="0" dirty="0"/>
              <a:t> </a:t>
            </a:r>
            <a:r>
              <a:rPr lang="hr-HR" spc="-10" noProof="0" dirty="0"/>
              <a:t>laser.</a:t>
            </a:r>
          </a:p>
          <a:p>
            <a:pPr marL="298450" marR="5080">
              <a:lnSpc>
                <a:spcPct val="160000"/>
              </a:lnSpc>
              <a:spcBef>
                <a:spcPts val="540"/>
              </a:spcBef>
            </a:pPr>
            <a:r>
              <a:rPr lang="hr-HR" b="1" spc="60" noProof="0" dirty="0">
                <a:latin typeface="Trebuchet MS"/>
                <a:cs typeface="Trebuchet MS"/>
              </a:rPr>
              <a:t>DVD</a:t>
            </a:r>
            <a:r>
              <a:rPr lang="hr-HR" b="1" spc="-70" noProof="0" dirty="0">
                <a:latin typeface="Trebuchet MS"/>
                <a:cs typeface="Trebuchet MS"/>
              </a:rPr>
              <a:t> </a:t>
            </a:r>
            <a:r>
              <a:rPr lang="hr-HR" b="1" noProof="0" dirty="0">
                <a:latin typeface="Trebuchet MS"/>
                <a:cs typeface="Trebuchet MS"/>
              </a:rPr>
              <a:t>/</a:t>
            </a:r>
            <a:r>
              <a:rPr lang="hr-HR" b="1" spc="-70" noProof="0" dirty="0">
                <a:latin typeface="Trebuchet MS"/>
                <a:cs typeface="Trebuchet MS"/>
              </a:rPr>
              <a:t> </a:t>
            </a:r>
            <a:r>
              <a:rPr lang="hr-HR" b="1" spc="55" noProof="0" dirty="0">
                <a:latin typeface="Trebuchet MS"/>
                <a:cs typeface="Trebuchet MS"/>
              </a:rPr>
              <a:t>DVD-</a:t>
            </a:r>
            <a:r>
              <a:rPr lang="hr-HR" b="1" spc="-60" noProof="0" dirty="0">
                <a:latin typeface="Trebuchet MS"/>
                <a:cs typeface="Trebuchet MS"/>
              </a:rPr>
              <a:t>RW:</a:t>
            </a:r>
            <a:r>
              <a:rPr lang="hr-HR" b="1" spc="-65" noProof="0" dirty="0">
                <a:latin typeface="Trebuchet MS"/>
                <a:cs typeface="Trebuchet MS"/>
              </a:rPr>
              <a:t> </a:t>
            </a:r>
            <a:r>
              <a:rPr lang="hr-HR" spc="-35" noProof="0" dirty="0"/>
              <a:t>Kapacitet</a:t>
            </a:r>
            <a:r>
              <a:rPr lang="hr-HR" spc="-70" noProof="0" dirty="0"/>
              <a:t> </a:t>
            </a:r>
            <a:r>
              <a:rPr lang="hr-HR" spc="-35" noProof="0" dirty="0"/>
              <a:t>~4.7</a:t>
            </a:r>
            <a:r>
              <a:rPr lang="hr-HR" spc="-65" noProof="0" dirty="0"/>
              <a:t> </a:t>
            </a:r>
            <a:r>
              <a:rPr lang="hr-HR" spc="-70" noProof="0" dirty="0"/>
              <a:t>GB. </a:t>
            </a:r>
            <a:r>
              <a:rPr lang="hr-HR" spc="-10" noProof="0" dirty="0"/>
              <a:t>Gušći</a:t>
            </a:r>
            <a:r>
              <a:rPr lang="hr-HR" spc="-65" noProof="0" dirty="0"/>
              <a:t> </a:t>
            </a:r>
            <a:r>
              <a:rPr lang="hr-HR" spc="-40" noProof="0" dirty="0"/>
              <a:t>zapis,</a:t>
            </a:r>
            <a:r>
              <a:rPr lang="hr-HR" spc="-70" noProof="0" dirty="0"/>
              <a:t> </a:t>
            </a:r>
            <a:r>
              <a:rPr lang="hr-HR" spc="-75" noProof="0" dirty="0"/>
              <a:t>koristi</a:t>
            </a:r>
            <a:r>
              <a:rPr lang="hr-HR" spc="-65" noProof="0" dirty="0"/>
              <a:t> </a:t>
            </a:r>
            <a:r>
              <a:rPr lang="hr-HR" spc="-10" noProof="0" dirty="0"/>
              <a:t>crveni laser.</a:t>
            </a:r>
          </a:p>
          <a:p>
            <a:pPr marL="298450" marR="493395">
              <a:lnSpc>
                <a:spcPct val="160000"/>
              </a:lnSpc>
              <a:spcBef>
                <a:spcPts val="540"/>
              </a:spcBef>
            </a:pPr>
            <a:r>
              <a:rPr lang="hr-HR" b="1" spc="-40" noProof="0" dirty="0">
                <a:latin typeface="Trebuchet MS"/>
                <a:cs typeface="Trebuchet MS"/>
              </a:rPr>
              <a:t>Blu-</a:t>
            </a:r>
            <a:r>
              <a:rPr lang="hr-HR" b="1" spc="-55" noProof="0" dirty="0">
                <a:latin typeface="Trebuchet MS"/>
                <a:cs typeface="Trebuchet MS"/>
              </a:rPr>
              <a:t>ray:</a:t>
            </a:r>
            <a:r>
              <a:rPr lang="hr-HR" b="1" spc="-65" noProof="0" dirty="0">
                <a:latin typeface="Trebuchet MS"/>
                <a:cs typeface="Trebuchet MS"/>
              </a:rPr>
              <a:t> </a:t>
            </a:r>
            <a:r>
              <a:rPr lang="hr-HR" spc="-35" noProof="0" dirty="0"/>
              <a:t>Kapacitet</a:t>
            </a:r>
            <a:r>
              <a:rPr lang="hr-HR" spc="-65" noProof="0" dirty="0"/>
              <a:t> </a:t>
            </a:r>
            <a:r>
              <a:rPr lang="hr-HR" spc="55" noProof="0" dirty="0"/>
              <a:t>~25</a:t>
            </a:r>
            <a:r>
              <a:rPr lang="hr-HR" spc="-65" noProof="0" dirty="0"/>
              <a:t> </a:t>
            </a:r>
            <a:r>
              <a:rPr lang="hr-HR" spc="-25" noProof="0" dirty="0"/>
              <a:t>GB+.</a:t>
            </a:r>
            <a:r>
              <a:rPr lang="hr-HR" spc="-65" noProof="0" dirty="0"/>
              <a:t> </a:t>
            </a:r>
            <a:r>
              <a:rPr lang="hr-HR" spc="-80" noProof="0" dirty="0"/>
              <a:t>Koristi</a:t>
            </a:r>
            <a:r>
              <a:rPr lang="hr-HR" spc="-65" noProof="0" dirty="0"/>
              <a:t> </a:t>
            </a:r>
            <a:r>
              <a:rPr lang="hr-HR" spc="-40" noProof="0" dirty="0"/>
              <a:t>plavi</a:t>
            </a:r>
            <a:r>
              <a:rPr lang="hr-HR" spc="-65" noProof="0" dirty="0"/>
              <a:t> </a:t>
            </a:r>
            <a:r>
              <a:rPr lang="hr-HR" spc="-25" noProof="0" dirty="0"/>
              <a:t>laser</a:t>
            </a:r>
            <a:r>
              <a:rPr lang="hr-HR" spc="-65" noProof="0" dirty="0"/>
              <a:t> </a:t>
            </a:r>
            <a:r>
              <a:rPr lang="hr-HR" spc="55" noProof="0" dirty="0"/>
              <a:t>za</a:t>
            </a:r>
            <a:r>
              <a:rPr lang="hr-HR" spc="-65" noProof="0" dirty="0"/>
              <a:t> </a:t>
            </a:r>
            <a:r>
              <a:rPr lang="hr-HR" spc="-10" noProof="0" dirty="0"/>
              <a:t>visoku gustoću</a:t>
            </a:r>
            <a:r>
              <a:rPr lang="hr-HR" spc="-50" noProof="0" dirty="0"/>
              <a:t> </a:t>
            </a:r>
            <a:r>
              <a:rPr lang="hr-HR" spc="-10" noProof="0" dirty="0"/>
              <a:t>zapisa.</a:t>
            </a:r>
          </a:p>
          <a:p>
            <a:pPr marL="12700" marR="305435">
              <a:lnSpc>
                <a:spcPct val="160000"/>
              </a:lnSpc>
              <a:spcBef>
                <a:spcPts val="540"/>
              </a:spcBef>
            </a:pPr>
            <a:r>
              <a:rPr lang="hr-HR" noProof="0" dirty="0"/>
              <a:t>Danas</a:t>
            </a:r>
            <a:r>
              <a:rPr lang="hr-HR" spc="-45" noProof="0" dirty="0"/>
              <a:t> </a:t>
            </a:r>
            <a:r>
              <a:rPr lang="hr-HR" noProof="0" dirty="0"/>
              <a:t>se</a:t>
            </a:r>
            <a:r>
              <a:rPr lang="hr-HR" spc="-45" noProof="0" dirty="0"/>
              <a:t> </a:t>
            </a:r>
            <a:r>
              <a:rPr lang="hr-HR" spc="-60" noProof="0" dirty="0"/>
              <a:t>rje</a:t>
            </a:r>
            <a:r>
              <a:rPr lang="hr-HR" spc="-60" noProof="0" dirty="0">
                <a:latin typeface="Microsoft Sans Serif"/>
                <a:cs typeface="Microsoft Sans Serif"/>
              </a:rPr>
              <a:t>đ</a:t>
            </a:r>
            <a:r>
              <a:rPr lang="hr-HR" spc="-60" noProof="0" dirty="0"/>
              <a:t>e</a:t>
            </a:r>
            <a:r>
              <a:rPr lang="hr-HR" spc="-45" noProof="0" dirty="0"/>
              <a:t> </a:t>
            </a:r>
            <a:r>
              <a:rPr lang="hr-HR" spc="-50" noProof="0" dirty="0"/>
              <a:t>koriste</a:t>
            </a:r>
            <a:r>
              <a:rPr lang="hr-HR" spc="-45" noProof="0" dirty="0"/>
              <a:t> </a:t>
            </a:r>
            <a:r>
              <a:rPr lang="hr-HR" spc="60" noProof="0" dirty="0"/>
              <a:t>zbog</a:t>
            </a:r>
            <a:r>
              <a:rPr lang="hr-HR" spc="-45" noProof="0" dirty="0"/>
              <a:t> </a:t>
            </a:r>
            <a:r>
              <a:rPr lang="hr-HR" spc="-40" noProof="0" dirty="0"/>
              <a:t>dominacije </a:t>
            </a:r>
            <a:r>
              <a:rPr lang="hr-HR" spc="60" noProof="0" dirty="0"/>
              <a:t>USB</a:t>
            </a:r>
            <a:r>
              <a:rPr lang="hr-HR" spc="-45" noProof="0" dirty="0"/>
              <a:t> </a:t>
            </a:r>
            <a:r>
              <a:rPr lang="hr-HR" spc="-30" noProof="0" dirty="0" err="1"/>
              <a:t>flash</a:t>
            </a:r>
            <a:r>
              <a:rPr lang="hr-HR" spc="-45" noProof="0" dirty="0"/>
              <a:t> </a:t>
            </a:r>
            <a:r>
              <a:rPr lang="hr-HR" spc="-35" noProof="0" dirty="0"/>
              <a:t>memorija</a:t>
            </a:r>
            <a:r>
              <a:rPr lang="hr-HR" spc="-45" noProof="0" dirty="0"/>
              <a:t> </a:t>
            </a:r>
            <a:r>
              <a:rPr lang="hr-HR" spc="-50" noProof="0" dirty="0"/>
              <a:t>i "cloud"</a:t>
            </a:r>
            <a:r>
              <a:rPr lang="hr-HR" spc="-75" noProof="0" dirty="0"/>
              <a:t> </a:t>
            </a:r>
            <a:r>
              <a:rPr lang="hr-HR" spc="-10" noProof="0" dirty="0"/>
              <a:t>pohrane.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r-HR" spc="-70" noProof="0" dirty="0"/>
              <a:t>Optičke</a:t>
            </a:r>
            <a:r>
              <a:rPr lang="hr-HR" spc="-225" noProof="0" dirty="0"/>
              <a:t> </a:t>
            </a:r>
            <a:r>
              <a:rPr lang="hr-HR" spc="-60" noProof="0" dirty="0"/>
              <a:t>Memorije</a:t>
            </a:r>
          </a:p>
        </p:txBody>
      </p:sp>
      <p:sp>
        <p:nvSpPr>
          <p:cNvPr id="5" name="object 5"/>
          <p:cNvSpPr/>
          <p:nvPr/>
        </p:nvSpPr>
        <p:spPr>
          <a:xfrm>
            <a:off x="390525" y="390525"/>
            <a:ext cx="47625" cy="552450"/>
          </a:xfrm>
          <a:custGeom>
            <a:avLst/>
            <a:gdLst/>
            <a:ahLst/>
            <a:cxnLst/>
            <a:rect l="l" t="t" r="r" b="b"/>
            <a:pathLst>
              <a:path w="47625" h="552450">
                <a:moveTo>
                  <a:pt x="47624" y="552449"/>
                </a:moveTo>
                <a:lnTo>
                  <a:pt x="0" y="552449"/>
                </a:lnTo>
                <a:lnTo>
                  <a:pt x="0" y="0"/>
                </a:lnTo>
                <a:lnTo>
                  <a:pt x="47624" y="0"/>
                </a:lnTo>
                <a:lnTo>
                  <a:pt x="47624" y="552449"/>
                </a:lnTo>
                <a:close/>
              </a:path>
            </a:pathLst>
          </a:custGeom>
          <a:solidFill>
            <a:srgbClr val="00FF88"/>
          </a:solidFill>
        </p:spPr>
        <p:txBody>
          <a:bodyPr wrap="square" lIns="0" tIns="0" rIns="0" bIns="0" rtlCol="0"/>
          <a:lstStyle/>
          <a:p>
            <a:endParaRPr lang="hr-HR" noProof="0" dirty="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525" y="2814637"/>
            <a:ext cx="95249" cy="1523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525" y="3614737"/>
            <a:ext cx="95249" cy="1523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525" y="4414837"/>
            <a:ext cx="95249" cy="1523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86761" y="2858897"/>
            <a:ext cx="4618990" cy="827791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95"/>
              </a:spcBef>
            </a:pPr>
            <a:r>
              <a:rPr lang="hr-HR" sz="4800" spc="-150" noProof="0" dirty="0"/>
              <a:t>Hvala na pažnji!</a:t>
            </a:r>
            <a:endParaRPr lang="hr-HR" sz="4800" noProof="0" dirty="0"/>
          </a:p>
        </p:txBody>
      </p:sp>
      <p:sp>
        <p:nvSpPr>
          <p:cNvPr id="3" name="Pravokutnik 2">
            <a:extLst>
              <a:ext uri="{FF2B5EF4-FFF2-40B4-BE49-F238E27FC236}">
                <a16:creationId xmlns:a16="http://schemas.microsoft.com/office/drawing/2014/main" id="{61757A84-BFAF-97A3-3A2D-35B2FDDC0DE2}"/>
              </a:ext>
            </a:extLst>
          </p:cNvPr>
          <p:cNvSpPr/>
          <p:nvPr/>
        </p:nvSpPr>
        <p:spPr>
          <a:xfrm>
            <a:off x="5486400" y="1828800"/>
            <a:ext cx="1219200" cy="103009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614</Words>
  <Application>Microsoft Office PowerPoint</Application>
  <PresentationFormat>Široki zaslon</PresentationFormat>
  <Paragraphs>84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Naslovi slajdova</vt:lpstr>
      </vt:variant>
      <vt:variant>
        <vt:i4>12</vt:i4>
      </vt:variant>
    </vt:vector>
  </HeadingPairs>
  <TitlesOfParts>
    <vt:vector size="13" baseType="lpstr">
      <vt:lpstr>Office Theme</vt:lpstr>
      <vt:lpstr>Memorijski Sustav</vt:lpstr>
      <vt:lpstr>Pregled Sadržaja</vt:lpstr>
      <vt:lpstr>Osnovni Memorijski Pojmovi</vt:lpstr>
      <vt:lpstr>Performanse Memorije</vt:lpstr>
      <vt:lpstr>Memorijska Hijerarhija</vt:lpstr>
      <vt:lpstr>Glavna (Radna) Memorija</vt:lpstr>
      <vt:lpstr>Projektiranje Memorijskog Modula</vt:lpstr>
      <vt:lpstr>Porodice DRAM Memorije</vt:lpstr>
      <vt:lpstr>Sekundarna Memorija (HDD)</vt:lpstr>
      <vt:lpstr>Priručna Diskovna Memorija</vt:lpstr>
      <vt:lpstr>Optičke Memorije</vt:lpstr>
      <vt:lpstr>Hvala na pažnji!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Memorijski Sustav</dc:title>
  <cp:lastModifiedBy>Marko Ivoš</cp:lastModifiedBy>
  <cp:revision>3</cp:revision>
  <dcterms:created xsi:type="dcterms:W3CDTF">2026-02-04T08:52:26Z</dcterms:created>
  <dcterms:modified xsi:type="dcterms:W3CDTF">2026-02-06T13:28:41Z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2026-02-04T00:00:00Z</vt:filetime>
  </property>
  <property fmtid="{D5CDD505-2E9C-101B-9397-08002B2CF9AE}" pid="3" name="Creator">
    <vt:lpwstr>Google</vt:lpwstr>
  </property>
  <property fmtid="{D5CDD505-2E9C-101B-9397-08002B2CF9AE}" pid="4" name="LastSaved">
    <vt:filetime>2026-02-04T00:00:00Z</vt:filetime>
  </property>
</Properties>
</file>